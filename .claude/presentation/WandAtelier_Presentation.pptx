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[0:00–0:30] Walk on. Wait for the room to settle. Make eye contact with the back row.</a:t>
            </a:r>
          </a:p>
          <a:p/>
          <a:p>
            <a:r>
              <a:t>Good morning. My name is Nayoung Lim, and the project I'm presenting today is called The Wand Atelier.</a:t>
            </a:r>
          </a:p>
          <a:p/>
          <a:p>
            <a:r>
              <a:t>Before I tell you what it is, I want to ask you one question.</a:t>
            </a:r>
          </a:p>
          <a:p/>
          <a:p>
            <a:r>
              <a:t>What if every NPC you met in a game had something they wouldn't tell you, and your job was to figure out what they actually needed?</a:t>
            </a:r>
          </a:p>
          <a:p/>
          <a:p>
            <a:r>
              <a:t>That question is what I spent the last year trying to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[0:30–1:30] The Wand Atelier is a fantasy crafting game built in Unity 6 where you play a wandmaker over a seven-day arc. Every day, customers walk into your shop with a problem. You read their dossier, buy materials from a market, craft a wand, and an AI judges how well your wand fits their needs.</a:t>
            </a:r>
          </a:p>
          <a:p/>
          <a:p>
            <a:r>
              <a:t>What makes this project unusual is HOW the content is made. Three things in this game are not hand-authored. They are generated at runtime, every time you play.</a:t>
            </a:r>
          </a:p>
          <a:p/>
          <a:p>
            <a:r>
              <a:t>First — the customers. Their names, professions, personalities, and the problems they bring you are written by OpenAI's GPT-4o the moment they walk in.</a:t>
            </a:r>
          </a:p>
          <a:p/>
          <a:p>
            <a:r>
              <a:t>Second — the materials. Six fresh materials are generated every morning, each with their own pixel-art portrait drawn by a local ComfyUI server running a quantised image model on my laptop GPU.</a:t>
            </a:r>
          </a:p>
          <a:p/>
          <a:p>
            <a:r>
              <a:t>Third — and this is the contribution I'm most proud of — the evaluation. The same language model that invents the customer also judges whether your wand fits them. The AI is both the storyteller and the critic.</a:t>
            </a:r>
          </a:p>
          <a:p/>
          <a:p>
            <a:r>
              <a:t>The full game is around eight thousand seven hundred lines of C# across thirty-four scripts, eight scenes, and four branching endings.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[1:30–2:30] So, why this project?</a:t>
            </a:r>
          </a:p>
          <a:p/>
          <a:p>
            <a:r>
              <a:t>If you've ever played a crafting game — Stardew Valley, Don't Starve, Minecraft — you know the pattern. You learn the recipes. You memorise that iron plus coal makes steel. After a few hours, the system isn't really challenging you any more. You're just executing a lookup table you have in your head.</a:t>
            </a:r>
          </a:p>
          <a:p/>
          <a:p>
            <a:r>
              <a:t>The same goes for NPCs. Most game characters say the same lines on every playthrough. The shopkeeper greets you the same way for the hundredth time.</a:t>
            </a:r>
          </a:p>
          <a:p/>
          <a:p>
            <a:r>
              <a:t>The problem is — the player ends up optimising AROUND the game's systems, not WITH them. The mystery dies the moment you crack the formula.</a:t>
            </a:r>
          </a:p>
          <a:p/>
          <a:p>
            <a:r>
              <a:t>What I wanted to ask was: what if logic, not lookup, decided the outcome? What if every customer was different enough that no recipe could survive contact with them? And what if the only way to succeed was to read carefully, not memorise?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[2:30–3:30] That question gave me three project objectives.</a:t>
            </a:r>
          </a:p>
          <a:p/>
          <a:p>
            <a:r>
              <a:t>Objective one: Deduction over memorisation. I wanted reading and inference to matter more than rote learning. Customers should hide their real needs behind a surface request, and the player should have to dig those out.</a:t>
            </a:r>
          </a:p>
          <a:p/>
          <a:p>
            <a:r>
              <a:t>Objective two: Creative flexibility. No fixed recipes. Any combination of materials should be valid if the player's reasoning is sound. The judge — the AI — has to evaluate intent, not match a key in a dictionary.</a:t>
            </a:r>
          </a:p>
          <a:p/>
          <a:p>
            <a:r>
              <a:t>Objective three: Crafting as ritual. The act of making a wand should feel embodied. Not a button click — an actual skill check, with timing and attention.</a:t>
            </a:r>
          </a:p>
          <a:p/>
          <a:p>
            <a:r>
              <a:t>To deliver on those, I set technical requirements: a seven-day game arc, four branching endings tied to player reputation, integration with two AI services running concurrently, and a frame rate of sixty FPS on a laptop GPU.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[3:30–4:30] I didn't invent any of these ideas in isolation. Four titles shaped this project.</a:t>
            </a:r>
          </a:p>
          <a:p/>
          <a:p>
            <a:r>
              <a:t>Hogwarts Legacy showed me that gestural spell-casting — drawing a shape with the mouse — could feel like real magic. That became the tracing minigame.</a:t>
            </a:r>
          </a:p>
          <a:p/>
          <a:p>
            <a:r>
              <a:t>Papers, Please showed me that deduction under time pressure is one of the most engaging mechanics in games. It's where the memo gate idea came from — you have to commit to an interpretation of a person, on the clock.</a:t>
            </a:r>
          </a:p>
          <a:p/>
          <a:p>
            <a:r>
              <a:t>Disco Elysium showed me how much narrative density you can pack into a single character if you structure their description well. That gave me my seven-field customer schema.</a:t>
            </a:r>
          </a:p>
          <a:p/>
          <a:p>
            <a:r>
              <a:t>And on the AI side — projects like AI Dungeon and Inworld demonstrated that LLMs can power believable NPCs.</a:t>
            </a:r>
          </a:p>
          <a:p/>
          <a:p>
            <a:r>
              <a:t>But here's the gap. None of those AI-NPC projects close the loop. They generate the character, but they don't evaluate the player's response. My project does both — generation and evaluation, with the same model. That, as far as I can tell from the literature, is the novel piece.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[4:30–5:30] Let me put that gap in a concrete table.</a:t>
            </a:r>
          </a:p>
          <a:p/>
          <a:p>
            <a:r>
              <a:t>Where existing crafting games use recipe lookup, my game uses logic scoring by an AI. Where existing games use hand-written NPCs, my game uses LLM-generated dossiers with a strict logical chain. Where existing games use pre-rendered art, my game uses runtime pixel art generated locally. Where existing puzzles have one true answer, my memo system uses a soft gate — your interpretation matters, even if it's wrong.</a:t>
            </a:r>
          </a:p>
          <a:p/>
          <a:p>
            <a:r>
              <a:t>Why is any of this desirable? Three reasons.</a:t>
            </a:r>
          </a:p>
          <a:p/>
          <a:p>
            <a:r>
              <a:t>One: infinite replayability without scaling content costs. The art and writing budget is essentially zero per playthrough.</a:t>
            </a:r>
          </a:p>
          <a:p/>
          <a:p>
            <a:r>
              <a:t>Two: because the AI is both narrator and judge, the player gets feedback that's coherent with the world. The same voice that gave the customer their problem tells you whether you solved it.</a:t>
            </a:r>
          </a:p>
          <a:p/>
          <a:p>
            <a:r>
              <a:t>Three: this is a viable production pattern for small studios. I'm running a quantised model on a laptop with eight gigabytes of VRAM. If a final-year student can do this, an indie studio absolutely can.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[5:30–6:30] Let's go technical.</a:t>
            </a:r>
          </a:p>
          <a:p/>
          <a:p>
            <a:r>
              <a:t>The system has three components. The Unity client in the centre, OpenAI GPT-4o on the right, and ComfyUI running locally on the left.</a:t>
            </a:r>
          </a:p>
          <a:p/>
          <a:p>
            <a:r>
              <a:t>GPT-4o handles all language work — about six API calls per day in the game. Customer generation, material generation, wand synthesis, and evaluation. Each call is a UnityWebRequest POST to the chat completions endpoint, parsed with Newtonsoft JSON.</a:t>
            </a:r>
          </a:p>
          <a:p/>
          <a:p>
            <a:r>
              <a:t>ComfyUI handles all image generation — about seven images per day. I'm using a model called Z-Image Turbo with Nunchaku INT4 quantisation, which is the only way I can run a diffusion model on this hardware fast enough to be usable.</a:t>
            </a:r>
          </a:p>
          <a:p/>
          <a:p>
            <a:r>
              <a:t>Cross-scene state lives in a singleton called GameManager — DontDestroyOnLoad, holds everything from the current customer to the player's gold, reputation, and which day it is.</a:t>
            </a:r>
          </a:p>
          <a:p/>
          <a:p>
            <a:r>
              <a:t>Eight scenes total: title, morning, customer, market, crafting, the minigame, evaluation, and ending. Eight thousand seven hundred lines of C#. Thirty-four scripts. All flat — no subdirectories — to keep it simple.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[6:30–7:30] Let me walk you through one customer.</a:t>
            </a:r>
          </a:p>
          <a:p/>
          <a:p>
            <a:r>
              <a:t>When a customer walks in, GPT-4o produces a seven-field dossier under a strict structural rule: schoolOfMagic flowing into profession flowing into request flowing into trueGoal flowing into constraint. Each field has to follow logically from the last.</a:t>
            </a:r>
          </a:p>
          <a:p/>
          <a:p>
            <a:r>
              <a:t>Here's the design rule I gave the model — and I quote from my GDD — the constraint must be cruelest when it activates exactly when they need control most.</a:t>
            </a:r>
          </a:p>
          <a:p/>
          <a:p>
            <a:r>
              <a:t>So you might get a hydromancy field medic whose magic amplifies when she's emotionally distressed. The request says she needs precise pressure control. The true goal is to save more patients. The constraint is that the more lives are at stake, the more her magic spirals out.</a:t>
            </a:r>
          </a:p>
          <a:p/>
          <a:p>
            <a:r>
              <a:t>Now — and this is the key mechanic — the player can't carry the full dossier with them. They have to read the prose and click three words into a memo card with three slots: Purpose, Personality, Element.</a:t>
            </a:r>
          </a:p>
          <a:p/>
          <a:p>
            <a:r>
              <a:t>That memo — not the original dossier — is the only reference they have in the market.</a:t>
            </a:r>
          </a:p>
          <a:p/>
          <a:p>
            <a:r>
              <a:t>A wrong memo misleads every choice that follows. There is no correct memo, just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[7:30–9:00] After the player chooses materials, they enter the crafting ritual. This is the part that took me the longest to build.</a:t>
            </a:r>
          </a:p>
          <a:p/>
          <a:p>
            <a:r>
              <a:t>It's three rounds. Each round, you trace a glowing rune path with your mouse. The trail fills BLUE as you trace it correctly. A RED MIST chases you from the start at a constant speed. If the red catches up before you finish, the round is lost.</a:t>
            </a:r>
          </a:p>
          <a:p/>
          <a:p>
            <a:r>
              <a:t>But pure tracing got boring fast in playtests. So I added gates — interactive checkpoints along the path. Three types.</a:t>
            </a:r>
          </a:p>
          <a:p/>
          <a:p>
            <a:r>
              <a:t>Tap gates ask you to press a displayed key once. Hold gates ask you to hold a key for nine-tenths of a second while a green ring fills. Accent gates ask you to press a key and FLICK the mouse in one of eight compass directions.</a:t>
            </a:r>
          </a:p>
          <a:p/>
          <a:p>
            <a:r>
              <a:t>Round one is five tap gates. Round two adds a hold. Round three adds an accent. The complexity escalates.</a:t>
            </a:r>
          </a:p>
          <a:p/>
          <a:p>
            <a:r>
              <a:t>The single most important design rule here: the red mist never pauses while a gate is being resolved. Every Hold and every Accent costs real time. The player can't stand still and think.</a:t>
            </a:r>
          </a:p>
          <a:p/>
          <a:p>
            <a:r>
              <a:t>Technically, the path itself is built from six waypoints using Catmull-Rom interpolation for smoothness, and I wrote a custom arc-length overlap validator to guarantee the path never re-crosses itself in a way that would unfairly trap the cursor.</a:t>
            </a:r>
          </a:p>
          <a:p/>
          <a:p>
            <a:r>
              <a:t>The final grade — A, B, C, or F — multiplies the reward by 1.0×, 0.85×, 0.7×, or 0.4×.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[9:00–10:30] Now the most novel part of the project.</a:t>
            </a:r>
          </a:p>
          <a:p/>
          <a:p>
            <a:r>
              <a:t>When the player submits their wand, the same AI that invented the customer judges the wand. I send GPT-4o a structured prompt with the customer dossier, the wand name, and three attributes — and I ask for a JSON verdict.</a:t>
            </a:r>
          </a:p>
          <a:p/>
          <a:p>
            <a:r>
              <a:t>The scoring rubric is explicit: if the wand only addresses the surface request, score forty to sixty. If it addresses the customer's true goal, sixty to seventy-five. If it addresses the true goal AND accounts for the constraint, seventy-five to ninety-five. If it creatively resolves the tension between true goal and constraint, ninety to one hundred.</a:t>
            </a:r>
          </a:p>
          <a:p/>
          <a:p>
            <a:r>
              <a:t>The model returns a JSON object with matchScore, whatWorked, whatMissed, and a customerReaction line — verbatim dialogue from the imagined NPC.</a:t>
            </a:r>
          </a:p>
          <a:p/>
          <a:p>
            <a:r>
              <a:t>That score plugs into the reward formula: gold equals one-fifty times score-over-one-hundred times quality multiplier.</a:t>
            </a:r>
          </a:p>
          <a:p/>
          <a:p>
            <a:r>
              <a:t>If the score is below forty, you don't just earn nothing — you LOSE ten reputation. Bad wands have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[10:30–12:00] Let me show you what this looks like in motion.</a:t>
            </a:r>
          </a:p>
          <a:p/>
          <a:p>
            <a:r>
              <a:t>[Start the demo OR play the pre-recorded clip. Narrate over it.]</a:t>
            </a:r>
          </a:p>
          <a:p/>
          <a:p>
            <a:r>
              <a:t>This is morning of day three. The player gets a letter from their landlord — rent's due tonight.</a:t>
            </a:r>
          </a:p>
          <a:p/>
          <a:p>
            <a:r>
              <a:t>Now we're in the customer scene. Notice the dossier on the left. Three slots are empty on the right. The player clicks 'war' into Purpose, 'impatient' into Personality, 'fire' into Element.</a:t>
            </a:r>
          </a:p>
          <a:p/>
          <a:p>
            <a:r>
              <a:t>The market — six materials, three cores and three woods. Notice the small glyph next to materials whose attributes match the memo. That's a hint, not a guarantee.</a:t>
            </a:r>
          </a:p>
          <a:p/>
          <a:p>
            <a:r>
              <a:t>Now crafting. The player slots two cores and a wood. Confirm.</a:t>
            </a:r>
          </a:p>
          <a:p/>
          <a:p>
            <a:r>
              <a:t>The minigame begins. Round one — easy, all taps. Round two — there's the hold gate, the player has to wait while the red mist closes in. Round three — accent gate, mouse flick, just barely makes it.</a:t>
            </a:r>
          </a:p>
          <a:p/>
          <a:p>
            <a:r>
              <a:t>And finally — the evaluation reveal. The wand image appears, the score animates up, the AI's verdict prints itself out character by character.</a:t>
            </a:r>
          </a:p>
          <a:p/>
          <a:p>
            <a:r>
              <a:t>That verdict was invented in the same generation pass that gave us the customer. The narrative is closed-loop.</a:t>
            </a:r>
          </a:p>
          <a:p/>
          <a:p>
            <a:r>
              <a:t>[If live demo fails, fall back to the screen capture — never apologise twice; move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[12:00–13:30] Let me be honest about what worked and what didn't.</a:t>
            </a:r>
          </a:p>
          <a:p/>
          <a:p>
            <a:r>
              <a:t>Quantitatively — the build is around eight thousand seven hundred lines of code, runs at sixty FPS on a laptop, and the average GPT-4o latency is four to seven seconds, with image generation between eight and twelve seconds. The single most impactful UX decision in the whole project is the parallel-execution pattern: the wand image generates while the player traces the rune. This hides about seventy percent of the latency.</a:t>
            </a:r>
          </a:p>
          <a:p/>
          <a:p>
            <a:r>
              <a:t>Qualitatively — playtesters reported two things consistently. The memo loop feels like reading a real letter, and the Hold gates with the mist closing in were stressful in a good way. That's the design objective being met.</a:t>
            </a:r>
          </a:p>
          <a:p/>
          <a:p>
            <a:r>
              <a:t>Limitations — let me name three.</a:t>
            </a:r>
          </a:p>
          <a:p>
            <a:r>
              <a:t>One: API cost. Each round costs me about four cents in OpenAI calls. That's not viable for free-to-play.</a:t>
            </a:r>
          </a:p>
          <a:p>
            <a:r>
              <a:t>Two: the AI judge is non-deterministic. The same wand can score plus-or-minus ten across runs.</a:t>
            </a:r>
          </a:p>
          <a:p>
            <a:r>
              <a:t>Three: the seven-day arc is tight. Players want more time to build a relationship with the world.</a:t>
            </a:r>
          </a:p>
          <a:p/>
          <a:p>
            <a:r>
              <a:t>Validation — I ran a small A/B between random-prompt customers and structured-prompt customers. The structured ones produced about three times more constraint-aware wand submissions from playtesters. Small sample, but the signal is real.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[13:30–14:30] The contribution of this project is a working demonstration that small teams CAN use generative AI for both content and evaluation in a real-time game, and that careful UX — specifically parallel execution — can hide the latency cost.</a:t>
            </a:r>
          </a:p>
          <a:p/>
          <a:p>
            <a:r>
              <a:t>What's done: the seven-day arc, four endings, the memo gate, the three-gate minigame, the dual-AI pipeline, the parallel-execution pattern, and a near-complete UI Toolkit migration.</a:t>
            </a:r>
          </a:p>
          <a:p/>
          <a:p>
            <a:r>
              <a:t>What I'd build in the next six months: two customers per day, a commission system that pays a one-point-seven-five times multiplier for special orders, reputation-tier customer biasing — high-rep players see royalty, low-rep players see brigands — a deterministic scoring rubric to fix the non-determinism problem, and voice-acted morning letters via TTS.</a:t>
            </a:r>
          </a:p>
          <a:p/>
          <a:p>
            <a:r>
              <a:t>Long-term — procedural rune shapes for the minigame, multi-day customer threads where the same NPC returns, and a modder API so the community can extend the prompt library.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[14:30–15:00] The full software stack is on this slide — Unity 6, URP, GPT-4o, ComfyUI with the Nunchaku INT4 model.</a:t>
            </a:r>
          </a:p>
          <a:p/>
          <a:p>
            <a:r>
              <a:t>The full code is in the GitHub repository linked here. Thirty-four scripts, eight thousand seven hundred lines of C#.</a:t>
            </a:r>
          </a:p>
          <a:p/>
          <a:p>
            <a:r>
              <a:t>References to the influences I named earlier are at the bottom — Hogwarts Legacy, Papers Please, Disco Elysium, plus the Catmull-Rom and Nunchaku papers.</a:t>
            </a:r>
          </a:p>
          <a:p/>
          <a:p>
            <a:r>
              <a:t>Thank you very much for your time.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7295" cy="5029200"/>
          </a:xfrm>
          <a:prstGeom prst="rect">
            <a:avLst/>
          </a:prstGeom>
          <a:solidFill>
            <a:srgbClr val="F4ECD8"/>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606040"/>
            <a:ext cx="11277295"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HERO IMAGE ]</a:t>
            </a:r>
          </a:p>
        </p:txBody>
      </p:sp>
      <p:sp>
        <p:nvSpPr>
          <p:cNvPr id="5" name="TextBox 4"/>
          <p:cNvSpPr txBox="1"/>
          <p:nvPr/>
        </p:nvSpPr>
        <p:spPr>
          <a:xfrm>
            <a:off x="457200" y="3017520"/>
            <a:ext cx="11277295"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parchment morning letter OR tracing minigame mid-trace</a:t>
            </a:r>
          </a:p>
        </p:txBody>
      </p:sp>
      <p:sp>
        <p:nvSpPr>
          <p:cNvPr id="6" name="Rectangle 5"/>
          <p:cNvSpPr/>
          <p:nvPr/>
        </p:nvSpPr>
        <p:spPr>
          <a:xfrm>
            <a:off x="0" y="4846320"/>
            <a:ext cx="12191695" cy="201168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5029200"/>
            <a:ext cx="11277295" cy="868680"/>
          </a:xfrm>
          <a:prstGeom prst="rect">
            <a:avLst/>
          </a:prstGeom>
          <a:noFill/>
        </p:spPr>
        <p:txBody>
          <a:bodyPr wrap="square" lIns="45720" rIns="45720" tIns="18288" bIns="18288" anchor="t">
            <a:spAutoFit/>
          </a:bodyPr>
          <a:lstStyle/>
          <a:p>
            <a:pPr algn="ctr">
              <a:lnSpc>
                <a:spcPct val="115000"/>
              </a:lnSpc>
            </a:pPr>
            <a:r>
              <a:rPr sz="5800" b="1" i="0">
                <a:solidFill>
                  <a:srgbClr val="C9A24A"/>
                </a:solidFill>
                <a:latin typeface="Garamond"/>
              </a:rPr>
              <a:t>The Wand Atelier</a:t>
            </a:r>
          </a:p>
        </p:txBody>
      </p:sp>
      <p:sp>
        <p:nvSpPr>
          <p:cNvPr id="8" name="TextBox 7"/>
          <p:cNvSpPr txBox="1"/>
          <p:nvPr/>
        </p:nvSpPr>
        <p:spPr>
          <a:xfrm>
            <a:off x="457200" y="5897880"/>
            <a:ext cx="11277295" cy="411480"/>
          </a:xfrm>
          <a:prstGeom prst="rect">
            <a:avLst/>
          </a:prstGeom>
          <a:noFill/>
        </p:spPr>
        <p:txBody>
          <a:bodyPr wrap="square" lIns="45720" rIns="45720" tIns="18288" bIns="18288" anchor="t">
            <a:spAutoFit/>
          </a:bodyPr>
          <a:lstStyle/>
          <a:p>
            <a:pPr algn="ctr">
              <a:lnSpc>
                <a:spcPct val="115000"/>
              </a:lnSpc>
            </a:pPr>
            <a:r>
              <a:rPr sz="2200" b="0" i="1">
                <a:solidFill>
                  <a:srgbClr val="F4ECD8"/>
                </a:solidFill>
                <a:latin typeface="Garamond"/>
              </a:rPr>
              <a:t>An AI-Driven Cozy Crafting Game</a:t>
            </a:r>
          </a:p>
        </p:txBody>
      </p:sp>
      <p:sp>
        <p:nvSpPr>
          <p:cNvPr id="9" name="TextBox 8"/>
          <p:cNvSpPr txBox="1"/>
          <p:nvPr/>
        </p:nvSpPr>
        <p:spPr>
          <a:xfrm>
            <a:off x="457200" y="6309360"/>
            <a:ext cx="11277295" cy="365760"/>
          </a:xfrm>
          <a:prstGeom prst="rect">
            <a:avLst/>
          </a:prstGeom>
          <a:noFill/>
        </p:spPr>
        <p:txBody>
          <a:bodyPr wrap="square" lIns="45720" rIns="45720" tIns="18288" bIns="18288" anchor="t">
            <a:spAutoFit/>
          </a:bodyPr>
          <a:lstStyle/>
          <a:p>
            <a:pPr algn="ctr">
              <a:lnSpc>
                <a:spcPct val="115000"/>
              </a:lnSpc>
            </a:pPr>
            <a:r>
              <a:rPr sz="1300" b="0" i="0">
                <a:solidFill>
                  <a:srgbClr val="E6C97B"/>
                </a:solidFill>
                <a:latin typeface="Calibri"/>
              </a:rPr>
              <a:t>Nayoung Lim   ·   Final Year Project   ·   Supervisor: TBA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Abstract</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2</a:t>
            </a:r>
          </a:p>
        </p:txBody>
      </p:sp>
      <p:sp>
        <p:nvSpPr>
          <p:cNvPr id="6" name="Rectangle 5"/>
          <p:cNvSpPr/>
          <p:nvPr/>
        </p:nvSpPr>
        <p:spPr>
          <a:xfrm>
            <a:off x="838047" y="1325880"/>
            <a:ext cx="3200400" cy="146304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047" y="1463040"/>
            <a:ext cx="3200400" cy="777240"/>
          </a:xfrm>
          <a:prstGeom prst="rect">
            <a:avLst/>
          </a:prstGeom>
          <a:noFill/>
        </p:spPr>
        <p:txBody>
          <a:bodyPr wrap="square" lIns="45720" rIns="45720" tIns="18288" bIns="18288" anchor="t">
            <a:spAutoFit/>
          </a:bodyPr>
          <a:lstStyle/>
          <a:p>
            <a:pPr algn="ctr">
              <a:lnSpc>
                <a:spcPct val="115000"/>
              </a:lnSpc>
            </a:pPr>
            <a:r>
              <a:rPr sz="5400" b="0" i="0">
                <a:solidFill>
                  <a:srgbClr val="C9A24A"/>
                </a:solidFill>
                <a:latin typeface="Garamond"/>
              </a:rPr>
              <a:t>✒</a:t>
            </a:r>
          </a:p>
        </p:txBody>
      </p:sp>
      <p:sp>
        <p:nvSpPr>
          <p:cNvPr id="8" name="TextBox 7"/>
          <p:cNvSpPr txBox="1"/>
          <p:nvPr/>
        </p:nvSpPr>
        <p:spPr>
          <a:xfrm>
            <a:off x="838047" y="2286000"/>
            <a:ext cx="3200400" cy="411480"/>
          </a:xfrm>
          <a:prstGeom prst="rect">
            <a:avLst/>
          </a:prstGeom>
          <a:noFill/>
        </p:spPr>
        <p:txBody>
          <a:bodyPr wrap="square" lIns="45720" rIns="45720" tIns="18288" bIns="18288" anchor="t">
            <a:spAutoFit/>
          </a:bodyPr>
          <a:lstStyle/>
          <a:p>
            <a:pPr algn="ctr">
              <a:lnSpc>
                <a:spcPct val="115000"/>
              </a:lnSpc>
            </a:pPr>
            <a:r>
              <a:rPr sz="2000" b="1" i="0">
                <a:solidFill>
                  <a:srgbClr val="3B2F1E"/>
                </a:solidFill>
                <a:latin typeface="Garamond"/>
              </a:rPr>
              <a:t>Deduction</a:t>
            </a:r>
          </a:p>
        </p:txBody>
      </p:sp>
      <p:sp>
        <p:nvSpPr>
          <p:cNvPr id="9" name="Rectangle 8"/>
          <p:cNvSpPr/>
          <p:nvPr/>
        </p:nvSpPr>
        <p:spPr>
          <a:xfrm>
            <a:off x="4495647" y="1325880"/>
            <a:ext cx="3200400" cy="146304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5647" y="1463040"/>
            <a:ext cx="3200400" cy="777240"/>
          </a:xfrm>
          <a:prstGeom prst="rect">
            <a:avLst/>
          </a:prstGeom>
          <a:noFill/>
        </p:spPr>
        <p:txBody>
          <a:bodyPr wrap="square" lIns="45720" rIns="45720" tIns="18288" bIns="18288" anchor="t">
            <a:spAutoFit/>
          </a:bodyPr>
          <a:lstStyle/>
          <a:p>
            <a:pPr algn="ctr">
              <a:lnSpc>
                <a:spcPct val="115000"/>
              </a:lnSpc>
            </a:pPr>
            <a:r>
              <a:rPr sz="5400" b="0" i="0">
                <a:solidFill>
                  <a:srgbClr val="C9A24A"/>
                </a:solidFill>
                <a:latin typeface="Garamond"/>
              </a:rPr>
              <a:t>⚯</a:t>
            </a:r>
          </a:p>
        </p:txBody>
      </p:sp>
      <p:sp>
        <p:nvSpPr>
          <p:cNvPr id="11" name="TextBox 10"/>
          <p:cNvSpPr txBox="1"/>
          <p:nvPr/>
        </p:nvSpPr>
        <p:spPr>
          <a:xfrm>
            <a:off x="4495647" y="2286000"/>
            <a:ext cx="3200400" cy="411480"/>
          </a:xfrm>
          <a:prstGeom prst="rect">
            <a:avLst/>
          </a:prstGeom>
          <a:noFill/>
        </p:spPr>
        <p:txBody>
          <a:bodyPr wrap="square" lIns="45720" rIns="45720" tIns="18288" bIns="18288" anchor="t">
            <a:spAutoFit/>
          </a:bodyPr>
          <a:lstStyle/>
          <a:p>
            <a:pPr algn="ctr">
              <a:lnSpc>
                <a:spcPct val="115000"/>
              </a:lnSpc>
            </a:pPr>
            <a:r>
              <a:rPr sz="2000" b="1" i="0">
                <a:solidFill>
                  <a:srgbClr val="3B2F1E"/>
                </a:solidFill>
                <a:latin typeface="Garamond"/>
              </a:rPr>
              <a:t>Crafting</a:t>
            </a:r>
          </a:p>
        </p:txBody>
      </p:sp>
      <p:sp>
        <p:nvSpPr>
          <p:cNvPr id="12" name="Rectangle 11"/>
          <p:cNvSpPr/>
          <p:nvPr/>
        </p:nvSpPr>
        <p:spPr>
          <a:xfrm>
            <a:off x="8153247" y="1325880"/>
            <a:ext cx="3200400" cy="146304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53247" y="1463040"/>
            <a:ext cx="3200400" cy="777240"/>
          </a:xfrm>
          <a:prstGeom prst="rect">
            <a:avLst/>
          </a:prstGeom>
          <a:noFill/>
        </p:spPr>
        <p:txBody>
          <a:bodyPr wrap="square" lIns="45720" rIns="45720" tIns="18288" bIns="18288" anchor="t">
            <a:spAutoFit/>
          </a:bodyPr>
          <a:lstStyle/>
          <a:p>
            <a:pPr algn="ctr">
              <a:lnSpc>
                <a:spcPct val="115000"/>
              </a:lnSpc>
            </a:pPr>
            <a:r>
              <a:rPr sz="5400" b="0" i="0">
                <a:solidFill>
                  <a:srgbClr val="C9A24A"/>
                </a:solidFill>
                <a:latin typeface="Garamond"/>
              </a:rPr>
              <a:t>◈</a:t>
            </a:r>
          </a:p>
        </p:txBody>
      </p:sp>
      <p:sp>
        <p:nvSpPr>
          <p:cNvPr id="14" name="TextBox 13"/>
          <p:cNvSpPr txBox="1"/>
          <p:nvPr/>
        </p:nvSpPr>
        <p:spPr>
          <a:xfrm>
            <a:off x="8153247" y="2286000"/>
            <a:ext cx="3200400" cy="411480"/>
          </a:xfrm>
          <a:prstGeom prst="rect">
            <a:avLst/>
          </a:prstGeom>
          <a:noFill/>
        </p:spPr>
        <p:txBody>
          <a:bodyPr wrap="square" lIns="45720" rIns="45720" tIns="18288" bIns="18288" anchor="t">
            <a:spAutoFit/>
          </a:bodyPr>
          <a:lstStyle/>
          <a:p>
            <a:pPr algn="ctr">
              <a:lnSpc>
                <a:spcPct val="115000"/>
              </a:lnSpc>
            </a:pPr>
            <a:r>
              <a:rPr sz="2000" b="1" i="0">
                <a:solidFill>
                  <a:srgbClr val="3B2F1E"/>
                </a:solidFill>
                <a:latin typeface="Garamond"/>
              </a:rPr>
              <a:t>Generation</a:t>
            </a:r>
          </a:p>
        </p:txBody>
      </p:sp>
      <p:sp>
        <p:nvSpPr>
          <p:cNvPr id="15" name="TextBox 14"/>
          <p:cNvSpPr txBox="1"/>
          <p:nvPr/>
        </p:nvSpPr>
        <p:spPr>
          <a:xfrm>
            <a:off x="731520" y="3063240"/>
            <a:ext cx="10728655" cy="3200400"/>
          </a:xfrm>
          <a:prstGeom prst="rect">
            <a:avLst/>
          </a:prstGeom>
          <a:noFill/>
        </p:spPr>
        <p:txBody>
          <a:bodyPr wrap="square" lIns="45720" rIns="45720" tIns="18288" bIns="18288" anchor="t">
            <a:spAutoFit/>
          </a:bodyPr>
          <a:lstStyle/>
          <a:p>
            <a:pPr algn="l">
              <a:lnSpc>
                <a:spcPct val="145000"/>
              </a:lnSpc>
            </a:pPr>
            <a:r>
              <a:rPr sz="1600" b="1" i="0">
                <a:solidFill>
                  <a:srgbClr val="C9A24A"/>
                </a:solidFill>
                <a:latin typeface="Garamond"/>
              </a:rPr>
              <a:t>✦  </a:t>
            </a:r>
            <a:r>
              <a:rPr sz="1600" b="0" i="0">
                <a:solidFill>
                  <a:srgbClr val="3B2F1E"/>
                </a:solidFill>
                <a:latin typeface="Calibri"/>
              </a:rPr>
              <a:t>A 7-day fantasy crafting game in Unity 6 where players read AI-generated customer dossiers and craft wands to fit their hidden needs.</a:t>
            </a:r>
          </a:p>
          <a:p>
            <a:pPr algn="l">
              <a:lnSpc>
                <a:spcPct val="145000"/>
              </a:lnSpc>
            </a:pPr>
            <a:r>
              <a:rPr sz="1600" b="1" i="0">
                <a:solidFill>
                  <a:srgbClr val="C9A24A"/>
                </a:solidFill>
                <a:latin typeface="Garamond"/>
              </a:rPr>
              <a:t>✦  </a:t>
            </a:r>
            <a:r>
              <a:rPr sz="1600" b="0" i="0">
                <a:solidFill>
                  <a:srgbClr val="3B2F1E"/>
                </a:solidFill>
                <a:latin typeface="Calibri"/>
              </a:rPr>
              <a:t>OpenAI GPT-4o generates every customer, material, and judge verdict — no two playthroughs share content.</a:t>
            </a:r>
          </a:p>
          <a:p>
            <a:pPr algn="l">
              <a:lnSpc>
                <a:spcPct val="145000"/>
              </a:lnSpc>
            </a:pPr>
            <a:r>
              <a:rPr sz="1600" b="1" i="0">
                <a:solidFill>
                  <a:srgbClr val="C9A24A"/>
                </a:solidFill>
                <a:latin typeface="Garamond"/>
              </a:rPr>
              <a:t>✦  </a:t>
            </a:r>
            <a:r>
              <a:rPr sz="1600" b="0" i="0">
                <a:solidFill>
                  <a:srgbClr val="3B2F1E"/>
                </a:solidFill>
                <a:latin typeface="Calibri"/>
              </a:rPr>
              <a:t>Local ComfyUI server (Z-Image Turbo, INT4 quantised) generates pixel art at runtime on a laptop GPU.</a:t>
            </a:r>
          </a:p>
          <a:p>
            <a:pPr algn="l">
              <a:lnSpc>
                <a:spcPct val="145000"/>
              </a:lnSpc>
            </a:pPr>
            <a:r>
              <a:rPr sz="1600" b="1" i="0">
                <a:solidFill>
                  <a:srgbClr val="C9A24A"/>
                </a:solidFill>
                <a:latin typeface="Garamond"/>
              </a:rPr>
              <a:t>✦  </a:t>
            </a:r>
            <a:r>
              <a:rPr sz="1600" b="0" i="0">
                <a:solidFill>
                  <a:srgbClr val="3B2F1E"/>
                </a:solidFill>
                <a:latin typeface="Calibri"/>
              </a:rPr>
              <a:t>~8,700 lines of C#  ·  34 scripts  ·  8 scenes  ·  4 branching endings.</a:t>
            </a:r>
          </a:p>
        </p:txBody>
      </p:sp>
      <p:sp>
        <p:nvSpPr>
          <p:cNvPr id="16" name="TextBox 15"/>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17" name="TextBox 16"/>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The Problem</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3</a:t>
            </a:r>
          </a:p>
        </p:txBody>
      </p:sp>
      <p:sp>
        <p:nvSpPr>
          <p:cNvPr id="6" name="Rectangle 5"/>
          <p:cNvSpPr/>
          <p:nvPr/>
        </p:nvSpPr>
        <p:spPr>
          <a:xfrm>
            <a:off x="640080" y="1325880"/>
            <a:ext cx="5212080" cy="4206240"/>
          </a:xfrm>
          <a:prstGeom prst="rect">
            <a:avLst/>
          </a:prstGeom>
          <a:solidFill>
            <a:srgbClr val="FAF4E5"/>
          </a:solidFill>
          <a:ln w="9525">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663440" cy="502920"/>
          </a:xfrm>
          <a:prstGeom prst="rect">
            <a:avLst/>
          </a:prstGeom>
          <a:noFill/>
        </p:spPr>
        <p:txBody>
          <a:bodyPr wrap="square" lIns="45720" rIns="45720" tIns="18288" bIns="18288" anchor="t">
            <a:spAutoFit/>
          </a:bodyPr>
          <a:lstStyle/>
          <a:p>
            <a:pPr algn="l">
              <a:lnSpc>
                <a:spcPct val="115000"/>
              </a:lnSpc>
            </a:pPr>
            <a:r>
              <a:rPr sz="2200" b="1" i="0">
                <a:solidFill>
                  <a:srgbClr val="3B2F1E"/>
                </a:solidFill>
                <a:latin typeface="Garamond"/>
              </a:rPr>
              <a:t>Traditional crafting games</a:t>
            </a:r>
          </a:p>
        </p:txBody>
      </p:sp>
      <p:sp>
        <p:nvSpPr>
          <p:cNvPr id="8" name="TextBox 7"/>
          <p:cNvSpPr txBox="1"/>
          <p:nvPr/>
        </p:nvSpPr>
        <p:spPr>
          <a:xfrm>
            <a:off x="1005840" y="2194560"/>
            <a:ext cx="4480560" cy="1828800"/>
          </a:xfrm>
          <a:prstGeom prst="rect">
            <a:avLst/>
          </a:prstGeom>
          <a:noFill/>
        </p:spPr>
        <p:txBody>
          <a:bodyPr wrap="square" lIns="45720" rIns="45720" tIns="18288" bIns="18288" anchor="t">
            <a:spAutoFit/>
          </a:bodyPr>
          <a:lstStyle/>
          <a:p>
            <a:pPr algn="l">
              <a:lnSpc>
                <a:spcPct val="155000"/>
              </a:lnSpc>
            </a:pPr>
            <a:r>
              <a:rPr sz="1400" b="1" i="0">
                <a:solidFill>
                  <a:srgbClr val="6B5536"/>
                </a:solidFill>
                <a:latin typeface="Calibri"/>
              </a:rPr>
              <a:t>•  </a:t>
            </a:r>
            <a:r>
              <a:rPr sz="1400" b="0" i="0">
                <a:solidFill>
                  <a:srgbClr val="3B2F1E"/>
                </a:solidFill>
                <a:latin typeface="Calibri"/>
              </a:rPr>
              <a:t>Recipe lookup tables you memorise</a:t>
            </a:r>
          </a:p>
          <a:p>
            <a:pPr algn="l">
              <a:lnSpc>
                <a:spcPct val="155000"/>
              </a:lnSpc>
            </a:pPr>
            <a:r>
              <a:rPr sz="1400" b="1" i="0">
                <a:solidFill>
                  <a:srgbClr val="6B5536"/>
                </a:solidFill>
                <a:latin typeface="Calibri"/>
              </a:rPr>
              <a:t>•  </a:t>
            </a:r>
            <a:r>
              <a:rPr sz="1400" b="0" i="0">
                <a:solidFill>
                  <a:srgbClr val="3B2F1E"/>
                </a:solidFill>
                <a:latin typeface="Calibri"/>
              </a:rPr>
              <a:t>NPCs repeat lines verbatim every playthrough</a:t>
            </a:r>
          </a:p>
          <a:p>
            <a:pPr algn="l">
              <a:lnSpc>
                <a:spcPct val="155000"/>
              </a:lnSpc>
            </a:pPr>
            <a:r>
              <a:rPr sz="1400" b="1" i="0">
                <a:solidFill>
                  <a:srgbClr val="6B5536"/>
                </a:solidFill>
                <a:latin typeface="Calibri"/>
              </a:rPr>
              <a:t>•  </a:t>
            </a:r>
            <a:r>
              <a:rPr sz="1400" b="0" i="0">
                <a:solidFill>
                  <a:srgbClr val="3B2F1E"/>
                </a:solidFill>
                <a:latin typeface="Calibri"/>
              </a:rPr>
              <a:t>Players optimise around the system, not with it</a:t>
            </a:r>
          </a:p>
          <a:p>
            <a:pPr algn="l">
              <a:lnSpc>
                <a:spcPct val="155000"/>
              </a:lnSpc>
            </a:pPr>
            <a:r>
              <a:rPr sz="1400" b="1" i="0">
                <a:solidFill>
                  <a:srgbClr val="6B5536"/>
                </a:solidFill>
                <a:latin typeface="Calibri"/>
              </a:rPr>
              <a:t>•  </a:t>
            </a:r>
            <a:r>
              <a:rPr sz="1400" b="0" i="0">
                <a:solidFill>
                  <a:srgbClr val="3B2F1E"/>
                </a:solidFill>
                <a:latin typeface="Calibri"/>
              </a:rPr>
              <a:t>Mystery dies the moment you crack the formula</a:t>
            </a:r>
          </a:p>
        </p:txBody>
      </p:sp>
      <p:sp>
        <p:nvSpPr>
          <p:cNvPr id="9" name="Rectangle 8"/>
          <p:cNvSpPr/>
          <p:nvPr/>
        </p:nvSpPr>
        <p:spPr>
          <a:xfrm>
            <a:off x="1005840" y="4023360"/>
            <a:ext cx="4480560" cy="1325880"/>
          </a:xfrm>
          <a:prstGeom prst="rect">
            <a:avLst/>
          </a:prstGeom>
          <a:solidFill>
            <a:srgbClr val="F4ECD8"/>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320540"/>
            <a:ext cx="448056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Stardew/Don't Starve crafting grid ]</a:t>
            </a:r>
          </a:p>
        </p:txBody>
      </p:sp>
      <p:sp>
        <p:nvSpPr>
          <p:cNvPr id="11" name="Rectangle 10"/>
          <p:cNvSpPr/>
          <p:nvPr/>
        </p:nvSpPr>
        <p:spPr>
          <a:xfrm>
            <a:off x="6400800" y="1325880"/>
            <a:ext cx="5212080" cy="4206240"/>
          </a:xfrm>
          <a:prstGeom prst="rect">
            <a:avLst/>
          </a:prstGeom>
          <a:solidFill>
            <a:srgbClr val="E6C97B"/>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508760"/>
            <a:ext cx="4663440" cy="822960"/>
          </a:xfrm>
          <a:prstGeom prst="rect">
            <a:avLst/>
          </a:prstGeom>
          <a:noFill/>
        </p:spPr>
        <p:txBody>
          <a:bodyPr wrap="square" lIns="45720" rIns="45720" tIns="18288" bIns="18288" anchor="t">
            <a:spAutoFit/>
          </a:bodyPr>
          <a:lstStyle/>
          <a:p>
            <a:pPr algn="l">
              <a:lnSpc>
                <a:spcPct val="115000"/>
              </a:lnSpc>
            </a:pPr>
            <a:r>
              <a:rPr sz="2000" b="1" i="1">
                <a:solidFill>
                  <a:srgbClr val="3B2F1E"/>
                </a:solidFill>
                <a:latin typeface="Garamond"/>
              </a:rPr>
              <a:t>What if logic — not lookup —
decided the outcome?</a:t>
            </a:r>
          </a:p>
        </p:txBody>
      </p:sp>
      <p:sp>
        <p:nvSpPr>
          <p:cNvPr id="13" name="Rectangle 12"/>
          <p:cNvSpPr/>
          <p:nvPr/>
        </p:nvSpPr>
        <p:spPr>
          <a:xfrm>
            <a:off x="6766560" y="2606040"/>
            <a:ext cx="4480560" cy="2697480"/>
          </a:xfrm>
          <a:prstGeom prst="rect">
            <a:avLst/>
          </a:prstGeom>
          <a:solidFill>
            <a:srgbClr val="F4ECD8"/>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589020"/>
            <a:ext cx="448056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Generated customer dossier (prose card) ]</a:t>
            </a:r>
          </a:p>
        </p:txBody>
      </p:sp>
      <p:sp>
        <p:nvSpPr>
          <p:cNvPr id="15" name="TextBox 14"/>
          <p:cNvSpPr txBox="1"/>
          <p:nvPr/>
        </p:nvSpPr>
        <p:spPr>
          <a:xfrm>
            <a:off x="6766560" y="4000500"/>
            <a:ext cx="448056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GPT-4o output rendered in-game</a:t>
            </a:r>
          </a:p>
        </p:txBody>
      </p:sp>
      <p:sp>
        <p:nvSpPr>
          <p:cNvPr id="16" name="TextBox 15"/>
          <p:cNvSpPr txBox="1"/>
          <p:nvPr/>
        </p:nvSpPr>
        <p:spPr>
          <a:xfrm>
            <a:off x="457200" y="5989320"/>
            <a:ext cx="11277295" cy="365760"/>
          </a:xfrm>
          <a:prstGeom prst="rect">
            <a:avLst/>
          </a:prstGeom>
          <a:noFill/>
        </p:spPr>
        <p:txBody>
          <a:bodyPr wrap="square" lIns="45720" rIns="45720" tIns="18288" bIns="18288" anchor="t">
            <a:spAutoFit/>
          </a:bodyPr>
          <a:lstStyle/>
          <a:p>
            <a:pPr algn="ctr">
              <a:lnSpc>
                <a:spcPct val="115000"/>
              </a:lnSpc>
            </a:pPr>
            <a:r>
              <a:rPr sz="1600" b="0" i="1">
                <a:solidFill>
                  <a:srgbClr val="C9A24A"/>
                </a:solidFill>
                <a:latin typeface="Garamond"/>
              </a:rPr>
              <a:t>“The mystery dies the moment you crack the formula.”</a:t>
            </a:r>
          </a:p>
        </p:txBody>
      </p:sp>
      <p:sp>
        <p:nvSpPr>
          <p:cNvPr id="17" name="TextBox 16"/>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18" name="TextBox 17"/>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Project Objectives</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4</a:t>
            </a:r>
          </a:p>
        </p:txBody>
      </p:sp>
      <p:sp>
        <p:nvSpPr>
          <p:cNvPr id="6" name="Rectangle 5"/>
          <p:cNvSpPr/>
          <p:nvPr/>
        </p:nvSpPr>
        <p:spPr>
          <a:xfrm>
            <a:off x="380847" y="1325880"/>
            <a:ext cx="3566160" cy="365760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0847" y="1554480"/>
            <a:ext cx="3566160" cy="640080"/>
          </a:xfrm>
          <a:prstGeom prst="rect">
            <a:avLst/>
          </a:prstGeom>
          <a:noFill/>
        </p:spPr>
        <p:txBody>
          <a:bodyPr wrap="square" lIns="45720" rIns="45720" tIns="18288" bIns="18288" anchor="t">
            <a:spAutoFit/>
          </a:bodyPr>
          <a:lstStyle/>
          <a:p>
            <a:pPr algn="ctr">
              <a:lnSpc>
                <a:spcPct val="115000"/>
              </a:lnSpc>
            </a:pPr>
            <a:r>
              <a:rPr sz="4200" b="0" i="0">
                <a:solidFill>
                  <a:srgbClr val="C9A24A"/>
                </a:solidFill>
                <a:latin typeface="Garamond"/>
              </a:rPr>
              <a:t>👁</a:t>
            </a:r>
          </a:p>
        </p:txBody>
      </p:sp>
      <p:sp>
        <p:nvSpPr>
          <p:cNvPr id="8" name="TextBox 7"/>
          <p:cNvSpPr txBox="1"/>
          <p:nvPr/>
        </p:nvSpPr>
        <p:spPr>
          <a:xfrm>
            <a:off x="380847" y="2286000"/>
            <a:ext cx="3566160" cy="457200"/>
          </a:xfrm>
          <a:prstGeom prst="rect">
            <a:avLst/>
          </a:prstGeom>
          <a:noFill/>
        </p:spPr>
        <p:txBody>
          <a:bodyPr wrap="square" lIns="45720" rIns="45720" tIns="18288" bIns="18288" anchor="t">
            <a:spAutoFit/>
          </a:bodyPr>
          <a:lstStyle/>
          <a:p>
            <a:pPr algn="ctr">
              <a:lnSpc>
                <a:spcPct val="115000"/>
              </a:lnSpc>
            </a:pPr>
            <a:r>
              <a:rPr sz="2200" b="1" i="0">
                <a:solidFill>
                  <a:srgbClr val="3B2F1E"/>
                </a:solidFill>
                <a:latin typeface="Garamond"/>
              </a:rPr>
              <a:t>Deduction</a:t>
            </a:r>
          </a:p>
        </p:txBody>
      </p:sp>
      <p:sp>
        <p:nvSpPr>
          <p:cNvPr id="9" name="TextBox 8"/>
          <p:cNvSpPr txBox="1"/>
          <p:nvPr/>
        </p:nvSpPr>
        <p:spPr>
          <a:xfrm>
            <a:off x="563727" y="2788920"/>
            <a:ext cx="3200400" cy="45720"/>
          </a:xfrm>
          <a:prstGeom prst="rect">
            <a:avLst/>
          </a:prstGeom>
          <a:noFill/>
        </p:spPr>
        <p:txBody>
          <a:bodyPr wrap="square" lIns="45720" rIns="45720" tIns="18288" bIns="18288" anchor="t">
            <a:spAutoFit/>
          </a:bodyPr>
          <a:lstStyle/>
          <a:p>
            <a:pPr algn="l">
              <a:lnSpc>
                <a:spcPct val="115000"/>
              </a:lnSpc>
            </a:pPr>
            <a:r>
              <a:rPr sz="1000" b="0" i="0">
                <a:solidFill>
                  <a:srgbClr val="3B2F1E"/>
                </a:solidFill>
                <a:latin typeface="Calibri"/>
              </a:rPr>
              <a:t/>
            </a:r>
          </a:p>
        </p:txBody>
      </p:sp>
      <p:sp>
        <p:nvSpPr>
          <p:cNvPr id="10" name="TextBox 9"/>
          <p:cNvSpPr txBox="1"/>
          <p:nvPr/>
        </p:nvSpPr>
        <p:spPr>
          <a:xfrm>
            <a:off x="655167" y="2880360"/>
            <a:ext cx="3017520" cy="2011680"/>
          </a:xfrm>
          <a:prstGeom prst="rect">
            <a:avLst/>
          </a:prstGeom>
          <a:noFill/>
        </p:spPr>
        <p:txBody>
          <a:bodyPr wrap="square" lIns="45720" rIns="45720" tIns="18288" bIns="18288" anchor="t">
            <a:spAutoFit/>
          </a:bodyPr>
          <a:lstStyle/>
          <a:p>
            <a:pPr algn="l">
              <a:lnSpc>
                <a:spcPct val="140000"/>
              </a:lnSpc>
            </a:pPr>
            <a:r>
              <a:rPr sz="1300" b="1" i="0">
                <a:solidFill>
                  <a:srgbClr val="C9A24A"/>
                </a:solidFill>
                <a:latin typeface="Calibri"/>
              </a:rPr>
              <a:t>•  </a:t>
            </a:r>
            <a:r>
              <a:rPr sz="1300" b="0" i="0">
                <a:solidFill>
                  <a:srgbClr val="3B2F1E"/>
                </a:solidFill>
                <a:latin typeface="Calibri"/>
              </a:rPr>
              <a:t>Reading &amp; inference matter more than memorisation</a:t>
            </a:r>
          </a:p>
          <a:p>
            <a:pPr algn="l">
              <a:lnSpc>
                <a:spcPct val="140000"/>
              </a:lnSpc>
            </a:pPr>
            <a:r>
              <a:rPr sz="1300" b="1" i="0">
                <a:solidFill>
                  <a:srgbClr val="C9A24A"/>
                </a:solidFill>
                <a:latin typeface="Calibri"/>
              </a:rPr>
              <a:t>•  </a:t>
            </a:r>
            <a:r>
              <a:rPr sz="1300" b="0" i="0">
                <a:solidFill>
                  <a:srgbClr val="3B2F1E"/>
                </a:solidFill>
                <a:latin typeface="Calibri"/>
              </a:rPr>
              <a:t>Customers hide their real need behind a surface request</a:t>
            </a:r>
          </a:p>
        </p:txBody>
      </p:sp>
      <p:sp>
        <p:nvSpPr>
          <p:cNvPr id="11" name="Rectangle 10"/>
          <p:cNvSpPr/>
          <p:nvPr/>
        </p:nvSpPr>
        <p:spPr>
          <a:xfrm>
            <a:off x="4312767" y="1325880"/>
            <a:ext cx="3566160" cy="365760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12767" y="1554480"/>
            <a:ext cx="3566160" cy="640080"/>
          </a:xfrm>
          <a:prstGeom prst="rect">
            <a:avLst/>
          </a:prstGeom>
          <a:noFill/>
        </p:spPr>
        <p:txBody>
          <a:bodyPr wrap="square" lIns="45720" rIns="45720" tIns="18288" bIns="18288" anchor="t">
            <a:spAutoFit/>
          </a:bodyPr>
          <a:lstStyle/>
          <a:p>
            <a:pPr algn="ctr">
              <a:lnSpc>
                <a:spcPct val="115000"/>
              </a:lnSpc>
            </a:pPr>
            <a:r>
              <a:rPr sz="4200" b="0" i="0">
                <a:solidFill>
                  <a:srgbClr val="C9A24A"/>
                </a:solidFill>
                <a:latin typeface="Garamond"/>
              </a:rPr>
              <a:t>✦</a:t>
            </a:r>
          </a:p>
        </p:txBody>
      </p:sp>
      <p:sp>
        <p:nvSpPr>
          <p:cNvPr id="13" name="TextBox 12"/>
          <p:cNvSpPr txBox="1"/>
          <p:nvPr/>
        </p:nvSpPr>
        <p:spPr>
          <a:xfrm>
            <a:off x="4312767" y="2286000"/>
            <a:ext cx="3566160" cy="457200"/>
          </a:xfrm>
          <a:prstGeom prst="rect">
            <a:avLst/>
          </a:prstGeom>
          <a:noFill/>
        </p:spPr>
        <p:txBody>
          <a:bodyPr wrap="square" lIns="45720" rIns="45720" tIns="18288" bIns="18288" anchor="t">
            <a:spAutoFit/>
          </a:bodyPr>
          <a:lstStyle/>
          <a:p>
            <a:pPr algn="ctr">
              <a:lnSpc>
                <a:spcPct val="115000"/>
              </a:lnSpc>
            </a:pPr>
            <a:r>
              <a:rPr sz="2200" b="1" i="0">
                <a:solidFill>
                  <a:srgbClr val="3B2F1E"/>
                </a:solidFill>
                <a:latin typeface="Garamond"/>
              </a:rPr>
              <a:t>Creative Flexibility</a:t>
            </a:r>
          </a:p>
        </p:txBody>
      </p:sp>
      <p:sp>
        <p:nvSpPr>
          <p:cNvPr id="14" name="TextBox 13"/>
          <p:cNvSpPr txBox="1"/>
          <p:nvPr/>
        </p:nvSpPr>
        <p:spPr>
          <a:xfrm>
            <a:off x="4495647" y="2788920"/>
            <a:ext cx="3200400" cy="45720"/>
          </a:xfrm>
          <a:prstGeom prst="rect">
            <a:avLst/>
          </a:prstGeom>
          <a:noFill/>
        </p:spPr>
        <p:txBody>
          <a:bodyPr wrap="square" lIns="45720" rIns="45720" tIns="18288" bIns="18288" anchor="t">
            <a:spAutoFit/>
          </a:bodyPr>
          <a:lstStyle/>
          <a:p>
            <a:pPr algn="l">
              <a:lnSpc>
                <a:spcPct val="115000"/>
              </a:lnSpc>
            </a:pPr>
            <a:r>
              <a:rPr sz="1000" b="0" i="0">
                <a:solidFill>
                  <a:srgbClr val="3B2F1E"/>
                </a:solidFill>
                <a:latin typeface="Calibri"/>
              </a:rPr>
              <a:t/>
            </a:r>
          </a:p>
        </p:txBody>
      </p:sp>
      <p:sp>
        <p:nvSpPr>
          <p:cNvPr id="15" name="TextBox 14"/>
          <p:cNvSpPr txBox="1"/>
          <p:nvPr/>
        </p:nvSpPr>
        <p:spPr>
          <a:xfrm>
            <a:off x="4587087" y="2880360"/>
            <a:ext cx="3017520" cy="2011680"/>
          </a:xfrm>
          <a:prstGeom prst="rect">
            <a:avLst/>
          </a:prstGeom>
          <a:noFill/>
        </p:spPr>
        <p:txBody>
          <a:bodyPr wrap="square" lIns="45720" rIns="45720" tIns="18288" bIns="18288" anchor="t">
            <a:spAutoFit/>
          </a:bodyPr>
          <a:lstStyle/>
          <a:p>
            <a:pPr algn="l">
              <a:lnSpc>
                <a:spcPct val="140000"/>
              </a:lnSpc>
            </a:pPr>
            <a:r>
              <a:rPr sz="1300" b="1" i="0">
                <a:solidFill>
                  <a:srgbClr val="C9A24A"/>
                </a:solidFill>
                <a:latin typeface="Calibri"/>
              </a:rPr>
              <a:t>•  </a:t>
            </a:r>
            <a:r>
              <a:rPr sz="1300" b="0" i="0">
                <a:solidFill>
                  <a:srgbClr val="3B2F1E"/>
                </a:solidFill>
                <a:latin typeface="Calibri"/>
              </a:rPr>
              <a:t>No fixed recipes — any combo is valid if reasoning is sound</a:t>
            </a:r>
          </a:p>
          <a:p>
            <a:pPr algn="l">
              <a:lnSpc>
                <a:spcPct val="140000"/>
              </a:lnSpc>
            </a:pPr>
            <a:r>
              <a:rPr sz="1300" b="1" i="0">
                <a:solidFill>
                  <a:srgbClr val="C9A24A"/>
                </a:solidFill>
                <a:latin typeface="Calibri"/>
              </a:rPr>
              <a:t>•  </a:t>
            </a:r>
            <a:r>
              <a:rPr sz="1300" b="0" i="0">
                <a:solidFill>
                  <a:srgbClr val="3B2F1E"/>
                </a:solidFill>
                <a:latin typeface="Calibri"/>
              </a:rPr>
              <a:t>AI evaluator judges intent, not key-value match</a:t>
            </a:r>
          </a:p>
        </p:txBody>
      </p:sp>
      <p:sp>
        <p:nvSpPr>
          <p:cNvPr id="16" name="Rectangle 15"/>
          <p:cNvSpPr/>
          <p:nvPr/>
        </p:nvSpPr>
        <p:spPr>
          <a:xfrm>
            <a:off x="8244687" y="1325880"/>
            <a:ext cx="3566160" cy="365760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4687" y="1554480"/>
            <a:ext cx="3566160" cy="640080"/>
          </a:xfrm>
          <a:prstGeom prst="rect">
            <a:avLst/>
          </a:prstGeom>
          <a:noFill/>
        </p:spPr>
        <p:txBody>
          <a:bodyPr wrap="square" lIns="45720" rIns="45720" tIns="18288" bIns="18288" anchor="t">
            <a:spAutoFit/>
          </a:bodyPr>
          <a:lstStyle/>
          <a:p>
            <a:pPr algn="ctr">
              <a:lnSpc>
                <a:spcPct val="115000"/>
              </a:lnSpc>
            </a:pPr>
            <a:r>
              <a:rPr sz="4200" b="0" i="0">
                <a:solidFill>
                  <a:srgbClr val="C9A24A"/>
                </a:solidFill>
                <a:latin typeface="Garamond"/>
              </a:rPr>
              <a:t>✋</a:t>
            </a:r>
          </a:p>
        </p:txBody>
      </p:sp>
      <p:sp>
        <p:nvSpPr>
          <p:cNvPr id="18" name="TextBox 17"/>
          <p:cNvSpPr txBox="1"/>
          <p:nvPr/>
        </p:nvSpPr>
        <p:spPr>
          <a:xfrm>
            <a:off x="8244687" y="2286000"/>
            <a:ext cx="3566160" cy="457200"/>
          </a:xfrm>
          <a:prstGeom prst="rect">
            <a:avLst/>
          </a:prstGeom>
          <a:noFill/>
        </p:spPr>
        <p:txBody>
          <a:bodyPr wrap="square" lIns="45720" rIns="45720" tIns="18288" bIns="18288" anchor="t">
            <a:spAutoFit/>
          </a:bodyPr>
          <a:lstStyle/>
          <a:p>
            <a:pPr algn="ctr">
              <a:lnSpc>
                <a:spcPct val="115000"/>
              </a:lnSpc>
            </a:pPr>
            <a:r>
              <a:rPr sz="2200" b="1" i="0">
                <a:solidFill>
                  <a:srgbClr val="3B2F1E"/>
                </a:solidFill>
                <a:latin typeface="Garamond"/>
              </a:rPr>
              <a:t>Ritual Crafting</a:t>
            </a:r>
          </a:p>
        </p:txBody>
      </p:sp>
      <p:sp>
        <p:nvSpPr>
          <p:cNvPr id="19" name="TextBox 18"/>
          <p:cNvSpPr txBox="1"/>
          <p:nvPr/>
        </p:nvSpPr>
        <p:spPr>
          <a:xfrm>
            <a:off x="8427567" y="2788920"/>
            <a:ext cx="3200400" cy="45720"/>
          </a:xfrm>
          <a:prstGeom prst="rect">
            <a:avLst/>
          </a:prstGeom>
          <a:noFill/>
        </p:spPr>
        <p:txBody>
          <a:bodyPr wrap="square" lIns="45720" rIns="45720" tIns="18288" bIns="18288" anchor="t">
            <a:spAutoFit/>
          </a:bodyPr>
          <a:lstStyle/>
          <a:p>
            <a:pPr algn="l">
              <a:lnSpc>
                <a:spcPct val="115000"/>
              </a:lnSpc>
            </a:pPr>
            <a:r>
              <a:rPr sz="1000" b="0" i="0">
                <a:solidFill>
                  <a:srgbClr val="3B2F1E"/>
                </a:solidFill>
                <a:latin typeface="Calibri"/>
              </a:rPr>
              <a:t/>
            </a:r>
          </a:p>
        </p:txBody>
      </p:sp>
      <p:sp>
        <p:nvSpPr>
          <p:cNvPr id="20" name="TextBox 19"/>
          <p:cNvSpPr txBox="1"/>
          <p:nvPr/>
        </p:nvSpPr>
        <p:spPr>
          <a:xfrm>
            <a:off x="8519007" y="2880360"/>
            <a:ext cx="3017520" cy="2011680"/>
          </a:xfrm>
          <a:prstGeom prst="rect">
            <a:avLst/>
          </a:prstGeom>
          <a:noFill/>
        </p:spPr>
        <p:txBody>
          <a:bodyPr wrap="square" lIns="45720" rIns="45720" tIns="18288" bIns="18288" anchor="t">
            <a:spAutoFit/>
          </a:bodyPr>
          <a:lstStyle/>
          <a:p>
            <a:pPr algn="l">
              <a:lnSpc>
                <a:spcPct val="140000"/>
              </a:lnSpc>
            </a:pPr>
            <a:r>
              <a:rPr sz="1300" b="1" i="0">
                <a:solidFill>
                  <a:srgbClr val="C9A24A"/>
                </a:solidFill>
                <a:latin typeface="Calibri"/>
              </a:rPr>
              <a:t>•  </a:t>
            </a:r>
            <a:r>
              <a:rPr sz="1300" b="0" i="0">
                <a:solidFill>
                  <a:srgbClr val="3B2F1E"/>
                </a:solidFill>
                <a:latin typeface="Calibri"/>
              </a:rPr>
              <a:t>Crafting feels embodied, not a button click</a:t>
            </a:r>
          </a:p>
          <a:p>
            <a:pPr algn="l">
              <a:lnSpc>
                <a:spcPct val="140000"/>
              </a:lnSpc>
            </a:pPr>
            <a:r>
              <a:rPr sz="1300" b="1" i="0">
                <a:solidFill>
                  <a:srgbClr val="C9A24A"/>
                </a:solidFill>
                <a:latin typeface="Calibri"/>
              </a:rPr>
              <a:t>•  </a:t>
            </a:r>
            <a:r>
              <a:rPr sz="1300" b="0" i="0">
                <a:solidFill>
                  <a:srgbClr val="3B2F1E"/>
                </a:solidFill>
                <a:latin typeface="Calibri"/>
              </a:rPr>
              <a:t>Skill check with timing, attention, commitment</a:t>
            </a:r>
          </a:p>
        </p:txBody>
      </p:sp>
      <p:sp>
        <p:nvSpPr>
          <p:cNvPr id="21" name="Rectangle 20"/>
          <p:cNvSpPr/>
          <p:nvPr/>
        </p:nvSpPr>
        <p:spPr>
          <a:xfrm>
            <a:off x="640080" y="5257800"/>
            <a:ext cx="10911535" cy="59436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349240"/>
            <a:ext cx="10911535" cy="457200"/>
          </a:xfrm>
          <a:prstGeom prst="rect">
            <a:avLst/>
          </a:prstGeom>
          <a:noFill/>
        </p:spPr>
        <p:txBody>
          <a:bodyPr wrap="square" lIns="45720" rIns="45720" tIns="18288" bIns="18288" anchor="t">
            <a:spAutoFit/>
          </a:bodyPr>
          <a:lstStyle/>
          <a:p>
            <a:pPr algn="ctr">
              <a:lnSpc>
                <a:spcPct val="115000"/>
              </a:lnSpc>
            </a:pPr>
            <a:r>
              <a:rPr sz="1400" b="1" i="0">
                <a:solidFill>
                  <a:srgbClr val="E6C97B"/>
                </a:solidFill>
                <a:latin typeface="Calibri"/>
              </a:rPr>
              <a:t>Functional Requirements   ·   7-day arc   ·   4 endings   ·   2 AI services concurrent   ·   60 FPS on laptop GPU</a:t>
            </a:r>
          </a:p>
        </p:txBody>
      </p:sp>
      <p:sp>
        <p:nvSpPr>
          <p:cNvPr id="23" name="TextBox 22"/>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24" name="TextBox 23"/>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Influences &amp; Prior Art</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5</a:t>
            </a:r>
          </a:p>
        </p:txBody>
      </p:sp>
      <p:sp>
        <p:nvSpPr>
          <p:cNvPr id="6" name="Rectangle 5"/>
          <p:cNvSpPr/>
          <p:nvPr/>
        </p:nvSpPr>
        <p:spPr>
          <a:xfrm>
            <a:off x="4632807" y="2880360"/>
            <a:ext cx="2926080" cy="822960"/>
          </a:xfrm>
          <a:prstGeom prst="rect">
            <a:avLst/>
          </a:prstGeom>
          <a:solidFill>
            <a:srgbClr val="C9A24A"/>
          </a:solidFill>
          <a:ln w="190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2807" y="2999232"/>
            <a:ext cx="2926080" cy="594360"/>
          </a:xfrm>
          <a:prstGeom prst="rect">
            <a:avLst/>
          </a:prstGeom>
          <a:noFill/>
        </p:spPr>
        <p:txBody>
          <a:bodyPr wrap="square" lIns="45720" rIns="45720" tIns="18288" bIns="18288" anchor="ctr">
            <a:spAutoFit/>
          </a:bodyPr>
          <a:lstStyle/>
          <a:p>
            <a:pPr algn="ctr">
              <a:lnSpc>
                <a:spcPct val="115000"/>
              </a:lnSpc>
            </a:pPr>
            <a:r>
              <a:rPr sz="1800" b="1" i="0">
                <a:solidFill>
                  <a:srgbClr val="3B2F1E"/>
                </a:solidFill>
                <a:latin typeface="Garamond"/>
              </a:rPr>
              <a:t>THE WAND ATELIER</a:t>
            </a:r>
          </a:p>
        </p:txBody>
      </p:sp>
      <p:sp>
        <p:nvSpPr>
          <p:cNvPr id="8" name="Rectangle 7"/>
          <p:cNvSpPr/>
          <p:nvPr/>
        </p:nvSpPr>
        <p:spPr>
          <a:xfrm>
            <a:off x="640080" y="1234440"/>
            <a:ext cx="4023360" cy="1645920"/>
          </a:xfrm>
          <a:prstGeom prst="rect">
            <a:avLst/>
          </a:prstGeom>
          <a:solidFill>
            <a:srgbClr val="FAF4E5"/>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371600"/>
            <a:ext cx="3566160" cy="411480"/>
          </a:xfrm>
          <a:prstGeom prst="rect">
            <a:avLst/>
          </a:prstGeom>
          <a:noFill/>
        </p:spPr>
        <p:txBody>
          <a:bodyPr wrap="square" lIns="45720" rIns="45720" tIns="18288" bIns="18288" anchor="t">
            <a:spAutoFit/>
          </a:bodyPr>
          <a:lstStyle/>
          <a:p>
            <a:pPr algn="l">
              <a:lnSpc>
                <a:spcPct val="115000"/>
              </a:lnSpc>
            </a:pPr>
            <a:r>
              <a:rPr sz="1800" b="1" i="1">
                <a:solidFill>
                  <a:srgbClr val="3B2F1E"/>
                </a:solidFill>
                <a:latin typeface="Garamond"/>
              </a:rPr>
              <a:t>Hogwarts Legacy</a:t>
            </a:r>
          </a:p>
        </p:txBody>
      </p:sp>
      <p:sp>
        <p:nvSpPr>
          <p:cNvPr id="10" name="TextBox 9"/>
          <p:cNvSpPr txBox="1"/>
          <p:nvPr/>
        </p:nvSpPr>
        <p:spPr>
          <a:xfrm>
            <a:off x="868680" y="1783080"/>
            <a:ext cx="3566160" cy="320040"/>
          </a:xfrm>
          <a:prstGeom prst="rect">
            <a:avLst/>
          </a:prstGeom>
          <a:noFill/>
        </p:spPr>
        <p:txBody>
          <a:bodyPr wrap="square" lIns="45720" rIns="45720" tIns="18288" bIns="18288" anchor="t">
            <a:spAutoFit/>
          </a:bodyPr>
          <a:lstStyle/>
          <a:p>
            <a:pPr algn="l">
              <a:lnSpc>
                <a:spcPct val="115000"/>
              </a:lnSpc>
            </a:pPr>
            <a:r>
              <a:rPr sz="1100" b="0" i="0">
                <a:solidFill>
                  <a:srgbClr val="6B5536"/>
                </a:solidFill>
                <a:latin typeface="Calibri"/>
              </a:rPr>
              <a:t>WB Games, 2023</a:t>
            </a:r>
          </a:p>
        </p:txBody>
      </p:sp>
      <p:sp>
        <p:nvSpPr>
          <p:cNvPr id="11" name="TextBox 10"/>
          <p:cNvSpPr txBox="1"/>
          <p:nvPr/>
        </p:nvSpPr>
        <p:spPr>
          <a:xfrm>
            <a:off x="868680" y="2148840"/>
            <a:ext cx="3566160" cy="640080"/>
          </a:xfrm>
          <a:prstGeom prst="rect">
            <a:avLst/>
          </a:prstGeom>
          <a:noFill/>
        </p:spPr>
        <p:txBody>
          <a:bodyPr wrap="square" lIns="45720" rIns="45720" tIns="18288" bIns="18288" anchor="t">
            <a:spAutoFit/>
          </a:bodyPr>
          <a:lstStyle/>
          <a:p>
            <a:pPr algn="l">
              <a:lnSpc>
                <a:spcPct val="125000"/>
              </a:lnSpc>
            </a:pPr>
            <a:r>
              <a:rPr sz="1300" b="0" i="0">
                <a:solidFill>
                  <a:srgbClr val="3B2F1E"/>
                </a:solidFill>
                <a:latin typeface="Calibri"/>
              </a:rPr>
              <a:t>Gestural spell-casting → tracing minigame</a:t>
            </a:r>
          </a:p>
        </p:txBody>
      </p:sp>
      <p:cxnSp>
        <p:nvCxnSpPr>
          <p:cNvPr id="12" name="Connector 11"/>
          <p:cNvCxnSpPr/>
          <p:nvPr/>
        </p:nvCxnSpPr>
        <p:spPr>
          <a:xfrm>
            <a:off x="2651760.0" y="2057400.0"/>
            <a:ext cx="3444087.5" cy="1234440.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528255" y="1234440"/>
            <a:ext cx="4023360" cy="1645920"/>
          </a:xfrm>
          <a:prstGeom prst="rect">
            <a:avLst/>
          </a:prstGeom>
          <a:solidFill>
            <a:srgbClr val="FAF4E5"/>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56855" y="1371600"/>
            <a:ext cx="3566160" cy="411480"/>
          </a:xfrm>
          <a:prstGeom prst="rect">
            <a:avLst/>
          </a:prstGeom>
          <a:noFill/>
        </p:spPr>
        <p:txBody>
          <a:bodyPr wrap="square" lIns="45720" rIns="45720" tIns="18288" bIns="18288" anchor="t">
            <a:spAutoFit/>
          </a:bodyPr>
          <a:lstStyle/>
          <a:p>
            <a:pPr algn="l">
              <a:lnSpc>
                <a:spcPct val="115000"/>
              </a:lnSpc>
            </a:pPr>
            <a:r>
              <a:rPr sz="1800" b="1" i="1">
                <a:solidFill>
                  <a:srgbClr val="3B2F1E"/>
                </a:solidFill>
                <a:latin typeface="Garamond"/>
              </a:rPr>
              <a:t>Papers, Please</a:t>
            </a:r>
          </a:p>
        </p:txBody>
      </p:sp>
      <p:sp>
        <p:nvSpPr>
          <p:cNvPr id="15" name="TextBox 14"/>
          <p:cNvSpPr txBox="1"/>
          <p:nvPr/>
        </p:nvSpPr>
        <p:spPr>
          <a:xfrm>
            <a:off x="7756855" y="1783080"/>
            <a:ext cx="3566160" cy="320040"/>
          </a:xfrm>
          <a:prstGeom prst="rect">
            <a:avLst/>
          </a:prstGeom>
          <a:noFill/>
        </p:spPr>
        <p:txBody>
          <a:bodyPr wrap="square" lIns="45720" rIns="45720" tIns="18288" bIns="18288" anchor="t">
            <a:spAutoFit/>
          </a:bodyPr>
          <a:lstStyle/>
          <a:p>
            <a:pPr algn="l">
              <a:lnSpc>
                <a:spcPct val="115000"/>
              </a:lnSpc>
            </a:pPr>
            <a:r>
              <a:rPr sz="1100" b="0" i="0">
                <a:solidFill>
                  <a:srgbClr val="6B5536"/>
                </a:solidFill>
                <a:latin typeface="Calibri"/>
              </a:rPr>
              <a:t>Lucas Pope, 2013</a:t>
            </a:r>
          </a:p>
        </p:txBody>
      </p:sp>
      <p:sp>
        <p:nvSpPr>
          <p:cNvPr id="16" name="TextBox 15"/>
          <p:cNvSpPr txBox="1"/>
          <p:nvPr/>
        </p:nvSpPr>
        <p:spPr>
          <a:xfrm>
            <a:off x="7756855" y="2148840"/>
            <a:ext cx="3566160" cy="640080"/>
          </a:xfrm>
          <a:prstGeom prst="rect">
            <a:avLst/>
          </a:prstGeom>
          <a:noFill/>
        </p:spPr>
        <p:txBody>
          <a:bodyPr wrap="square" lIns="45720" rIns="45720" tIns="18288" bIns="18288" anchor="t">
            <a:spAutoFit/>
          </a:bodyPr>
          <a:lstStyle/>
          <a:p>
            <a:pPr algn="l">
              <a:lnSpc>
                <a:spcPct val="125000"/>
              </a:lnSpc>
            </a:pPr>
            <a:r>
              <a:rPr sz="1300" b="0" i="0">
                <a:solidFill>
                  <a:srgbClr val="3B2F1E"/>
                </a:solidFill>
                <a:latin typeface="Calibri"/>
              </a:rPr>
              <a:t>Deduction under time pressure → memo gate</a:t>
            </a:r>
          </a:p>
        </p:txBody>
      </p:sp>
      <p:cxnSp>
        <p:nvCxnSpPr>
          <p:cNvPr id="17" name="Connector 16"/>
          <p:cNvCxnSpPr/>
          <p:nvPr/>
        </p:nvCxnSpPr>
        <p:spPr>
          <a:xfrm flipH="1">
            <a:off x="6095847.5" y="2057400.0"/>
            <a:ext cx="3444087.5" cy="1234440.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080" y="4160520"/>
            <a:ext cx="4023360" cy="1645920"/>
          </a:xfrm>
          <a:prstGeom prst="rect">
            <a:avLst/>
          </a:prstGeom>
          <a:solidFill>
            <a:srgbClr val="FAF4E5"/>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297680"/>
            <a:ext cx="3566160" cy="411480"/>
          </a:xfrm>
          <a:prstGeom prst="rect">
            <a:avLst/>
          </a:prstGeom>
          <a:noFill/>
        </p:spPr>
        <p:txBody>
          <a:bodyPr wrap="square" lIns="45720" rIns="45720" tIns="18288" bIns="18288" anchor="t">
            <a:spAutoFit/>
          </a:bodyPr>
          <a:lstStyle/>
          <a:p>
            <a:pPr algn="l">
              <a:lnSpc>
                <a:spcPct val="115000"/>
              </a:lnSpc>
            </a:pPr>
            <a:r>
              <a:rPr sz="1800" b="1" i="1">
                <a:solidFill>
                  <a:srgbClr val="3B2F1E"/>
                </a:solidFill>
                <a:latin typeface="Garamond"/>
              </a:rPr>
              <a:t>Disco Elysium</a:t>
            </a:r>
          </a:p>
        </p:txBody>
      </p:sp>
      <p:sp>
        <p:nvSpPr>
          <p:cNvPr id="20" name="TextBox 19"/>
          <p:cNvSpPr txBox="1"/>
          <p:nvPr/>
        </p:nvSpPr>
        <p:spPr>
          <a:xfrm>
            <a:off x="868680" y="4709160"/>
            <a:ext cx="3566160" cy="320040"/>
          </a:xfrm>
          <a:prstGeom prst="rect">
            <a:avLst/>
          </a:prstGeom>
          <a:noFill/>
        </p:spPr>
        <p:txBody>
          <a:bodyPr wrap="square" lIns="45720" rIns="45720" tIns="18288" bIns="18288" anchor="t">
            <a:spAutoFit/>
          </a:bodyPr>
          <a:lstStyle/>
          <a:p>
            <a:pPr algn="l">
              <a:lnSpc>
                <a:spcPct val="115000"/>
              </a:lnSpc>
            </a:pPr>
            <a:r>
              <a:rPr sz="1100" b="0" i="0">
                <a:solidFill>
                  <a:srgbClr val="6B5536"/>
                </a:solidFill>
                <a:latin typeface="Calibri"/>
              </a:rPr>
              <a:t>ZA/UM, 2019</a:t>
            </a:r>
          </a:p>
        </p:txBody>
      </p:sp>
      <p:sp>
        <p:nvSpPr>
          <p:cNvPr id="21" name="TextBox 20"/>
          <p:cNvSpPr txBox="1"/>
          <p:nvPr/>
        </p:nvSpPr>
        <p:spPr>
          <a:xfrm>
            <a:off x="868680" y="5074920"/>
            <a:ext cx="3566160" cy="640080"/>
          </a:xfrm>
          <a:prstGeom prst="rect">
            <a:avLst/>
          </a:prstGeom>
          <a:noFill/>
        </p:spPr>
        <p:txBody>
          <a:bodyPr wrap="square" lIns="45720" rIns="45720" tIns="18288" bIns="18288" anchor="t">
            <a:spAutoFit/>
          </a:bodyPr>
          <a:lstStyle/>
          <a:p>
            <a:pPr algn="l">
              <a:lnSpc>
                <a:spcPct val="125000"/>
              </a:lnSpc>
            </a:pPr>
            <a:r>
              <a:rPr sz="1300" b="0" i="0">
                <a:solidFill>
                  <a:srgbClr val="3B2F1E"/>
                </a:solidFill>
                <a:latin typeface="Calibri"/>
              </a:rPr>
              <a:t>Narrative density per NPC → 7-field schema</a:t>
            </a:r>
          </a:p>
        </p:txBody>
      </p:sp>
      <p:cxnSp>
        <p:nvCxnSpPr>
          <p:cNvPr id="22" name="Connector 21"/>
          <p:cNvCxnSpPr/>
          <p:nvPr/>
        </p:nvCxnSpPr>
        <p:spPr>
          <a:xfrm flipV="1">
            <a:off x="2651760.0" y="3291840"/>
            <a:ext cx="3444087.5" cy="1691640.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7528255" y="4160520"/>
            <a:ext cx="4023360" cy="1645920"/>
          </a:xfrm>
          <a:prstGeom prst="rect">
            <a:avLst/>
          </a:prstGeom>
          <a:solidFill>
            <a:srgbClr val="FAF4E5"/>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56855" y="4297680"/>
            <a:ext cx="3566160" cy="411480"/>
          </a:xfrm>
          <a:prstGeom prst="rect">
            <a:avLst/>
          </a:prstGeom>
          <a:noFill/>
        </p:spPr>
        <p:txBody>
          <a:bodyPr wrap="square" lIns="45720" rIns="45720" tIns="18288" bIns="18288" anchor="t">
            <a:spAutoFit/>
          </a:bodyPr>
          <a:lstStyle/>
          <a:p>
            <a:pPr algn="l">
              <a:lnSpc>
                <a:spcPct val="115000"/>
              </a:lnSpc>
            </a:pPr>
            <a:r>
              <a:rPr sz="1800" b="1" i="1">
                <a:solidFill>
                  <a:srgbClr val="3B2F1E"/>
                </a:solidFill>
                <a:latin typeface="Garamond"/>
              </a:rPr>
              <a:t>AI Dungeon / Inworld</a:t>
            </a:r>
          </a:p>
        </p:txBody>
      </p:sp>
      <p:sp>
        <p:nvSpPr>
          <p:cNvPr id="25" name="TextBox 24"/>
          <p:cNvSpPr txBox="1"/>
          <p:nvPr/>
        </p:nvSpPr>
        <p:spPr>
          <a:xfrm>
            <a:off x="7756855" y="4709160"/>
            <a:ext cx="3566160" cy="320040"/>
          </a:xfrm>
          <a:prstGeom prst="rect">
            <a:avLst/>
          </a:prstGeom>
          <a:noFill/>
        </p:spPr>
        <p:txBody>
          <a:bodyPr wrap="square" lIns="45720" rIns="45720" tIns="18288" bIns="18288" anchor="t">
            <a:spAutoFit/>
          </a:bodyPr>
          <a:lstStyle/>
          <a:p>
            <a:pPr algn="l">
              <a:lnSpc>
                <a:spcPct val="115000"/>
              </a:lnSpc>
            </a:pPr>
            <a:r>
              <a:rPr sz="1100" b="0" i="0">
                <a:solidFill>
                  <a:srgbClr val="6B5536"/>
                </a:solidFill>
                <a:latin typeface="Calibri"/>
              </a:rPr>
              <a:t>various, 2019–2024</a:t>
            </a:r>
          </a:p>
        </p:txBody>
      </p:sp>
      <p:sp>
        <p:nvSpPr>
          <p:cNvPr id="26" name="TextBox 25"/>
          <p:cNvSpPr txBox="1"/>
          <p:nvPr/>
        </p:nvSpPr>
        <p:spPr>
          <a:xfrm>
            <a:off x="7756855" y="5074920"/>
            <a:ext cx="3566160" cy="640080"/>
          </a:xfrm>
          <a:prstGeom prst="rect">
            <a:avLst/>
          </a:prstGeom>
          <a:noFill/>
        </p:spPr>
        <p:txBody>
          <a:bodyPr wrap="square" lIns="45720" rIns="45720" tIns="18288" bIns="18288" anchor="t">
            <a:spAutoFit/>
          </a:bodyPr>
          <a:lstStyle/>
          <a:p>
            <a:pPr algn="l">
              <a:lnSpc>
                <a:spcPct val="125000"/>
              </a:lnSpc>
            </a:pPr>
            <a:r>
              <a:rPr sz="1300" b="0" i="0">
                <a:solidFill>
                  <a:srgbClr val="3B2F1E"/>
                </a:solidFill>
                <a:latin typeface="Calibri"/>
              </a:rPr>
              <a:t>LLM-driven NPCs → GPT-4o customer/material gen</a:t>
            </a:r>
          </a:p>
        </p:txBody>
      </p:sp>
      <p:cxnSp>
        <p:nvCxnSpPr>
          <p:cNvPr id="27" name="Connector 26"/>
          <p:cNvCxnSpPr/>
          <p:nvPr/>
        </p:nvCxnSpPr>
        <p:spPr>
          <a:xfrm flipH="1" flipV="1">
            <a:off x="6095847.5" y="3291840"/>
            <a:ext cx="3444087.5" cy="1691640.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40080" y="5989320"/>
            <a:ext cx="10911535" cy="365760"/>
          </a:xfrm>
          <a:prstGeom prst="rect">
            <a:avLst/>
          </a:prstGeom>
          <a:noFill/>
        </p:spPr>
        <p:txBody>
          <a:bodyPr wrap="square" lIns="45720" rIns="45720" tIns="18288" bIns="18288" anchor="t">
            <a:spAutoFit/>
          </a:bodyPr>
          <a:lstStyle/>
          <a:p>
            <a:pPr algn="ctr">
              <a:lnSpc>
                <a:spcPct val="115000"/>
              </a:lnSpc>
            </a:pPr>
            <a:r>
              <a:rPr sz="1400" b="0" i="1">
                <a:solidFill>
                  <a:srgbClr val="C9A24A"/>
                </a:solidFill>
                <a:latin typeface="Garamond"/>
              </a:rPr>
              <a:t>Existing LLM-NPC games rarely judge the player's response with the same model. This project closes the loop.</a:t>
            </a:r>
          </a:p>
        </p:txBody>
      </p:sp>
      <p:sp>
        <p:nvSpPr>
          <p:cNvPr id="29" name="TextBox 28"/>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30" name="TextBox 29"/>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The Gap This Project Fills</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6</a:t>
            </a:r>
          </a:p>
        </p:txBody>
      </p:sp>
      <p:sp>
        <p:nvSpPr>
          <p:cNvPr id="6" name="Rectangle 5"/>
          <p:cNvSpPr/>
          <p:nvPr/>
        </p:nvSpPr>
        <p:spPr>
          <a:xfrm>
            <a:off x="731520" y="1325880"/>
            <a:ext cx="5364327" cy="50292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5847" y="1325880"/>
            <a:ext cx="5364327" cy="5029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399032"/>
            <a:ext cx="5364327" cy="365760"/>
          </a:xfrm>
          <a:prstGeom prst="rect">
            <a:avLst/>
          </a:prstGeom>
          <a:noFill/>
        </p:spPr>
        <p:txBody>
          <a:bodyPr wrap="square" lIns="45720" rIns="45720" tIns="18288" bIns="18288" anchor="t">
            <a:spAutoFit/>
          </a:bodyPr>
          <a:lstStyle/>
          <a:p>
            <a:pPr algn="ctr">
              <a:lnSpc>
                <a:spcPct val="115000"/>
              </a:lnSpc>
            </a:pPr>
            <a:r>
              <a:rPr sz="1800" b="1" i="0">
                <a:solidFill>
                  <a:srgbClr val="E6C97B"/>
                </a:solidFill>
                <a:latin typeface="Garamond"/>
              </a:rPr>
              <a:t>Existing approach</a:t>
            </a:r>
          </a:p>
        </p:txBody>
      </p:sp>
      <p:sp>
        <p:nvSpPr>
          <p:cNvPr id="9" name="TextBox 8"/>
          <p:cNvSpPr txBox="1"/>
          <p:nvPr/>
        </p:nvSpPr>
        <p:spPr>
          <a:xfrm>
            <a:off x="6095847" y="1399032"/>
            <a:ext cx="5364327" cy="365760"/>
          </a:xfrm>
          <a:prstGeom prst="rect">
            <a:avLst/>
          </a:prstGeom>
          <a:noFill/>
        </p:spPr>
        <p:txBody>
          <a:bodyPr wrap="square" lIns="45720" rIns="45720" tIns="18288" bIns="18288" anchor="t">
            <a:spAutoFit/>
          </a:bodyPr>
          <a:lstStyle/>
          <a:p>
            <a:pPr algn="ctr">
              <a:lnSpc>
                <a:spcPct val="115000"/>
              </a:lnSpc>
            </a:pPr>
            <a:r>
              <a:rPr sz="1800" b="1" i="0">
                <a:solidFill>
                  <a:srgbClr val="3B2F1E"/>
                </a:solidFill>
                <a:latin typeface="Garamond"/>
              </a:rPr>
              <a:t>This project</a:t>
            </a:r>
          </a:p>
        </p:txBody>
      </p:sp>
      <p:sp>
        <p:nvSpPr>
          <p:cNvPr id="10" name="Rectangle 9"/>
          <p:cNvSpPr/>
          <p:nvPr/>
        </p:nvSpPr>
        <p:spPr>
          <a:xfrm>
            <a:off x="731520" y="1828800"/>
            <a:ext cx="10728655" cy="594360"/>
          </a:xfrm>
          <a:prstGeom prst="rect">
            <a:avLst/>
          </a:prstGeom>
          <a:solidFill>
            <a:srgbClr val="FAF4E5"/>
          </a:solidFill>
          <a:ln w="635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20240"/>
            <a:ext cx="4815687" cy="457200"/>
          </a:xfrm>
          <a:prstGeom prst="rect">
            <a:avLst/>
          </a:prstGeom>
          <a:noFill/>
        </p:spPr>
        <p:txBody>
          <a:bodyPr wrap="square" lIns="45720" rIns="45720" tIns="18288" bIns="18288" anchor="ctr">
            <a:spAutoFit/>
          </a:bodyPr>
          <a:lstStyle/>
          <a:p>
            <a:pPr algn="l">
              <a:lnSpc>
                <a:spcPct val="115000"/>
              </a:lnSpc>
            </a:pPr>
            <a:r>
              <a:rPr sz="1500" b="0" i="0">
                <a:solidFill>
                  <a:srgbClr val="6B5536"/>
                </a:solidFill>
                <a:latin typeface="Calibri"/>
              </a:rPr>
              <a:t>Recipe lookup tables</a:t>
            </a:r>
          </a:p>
        </p:txBody>
      </p:sp>
      <p:sp>
        <p:nvSpPr>
          <p:cNvPr id="12" name="TextBox 11"/>
          <p:cNvSpPr txBox="1"/>
          <p:nvPr/>
        </p:nvSpPr>
        <p:spPr>
          <a:xfrm>
            <a:off x="6370167" y="1920240"/>
            <a:ext cx="4815687" cy="457200"/>
          </a:xfrm>
          <a:prstGeom prst="rect">
            <a:avLst/>
          </a:prstGeom>
          <a:noFill/>
        </p:spPr>
        <p:txBody>
          <a:bodyPr wrap="square" lIns="45720" rIns="45720" tIns="18288" bIns="18288" anchor="ctr">
            <a:spAutoFit/>
          </a:bodyPr>
          <a:lstStyle/>
          <a:p>
            <a:pPr algn="l">
              <a:lnSpc>
                <a:spcPct val="115000"/>
              </a:lnSpc>
            </a:pPr>
            <a:r>
              <a:rPr sz="1500" b="1" i="0">
                <a:solidFill>
                  <a:srgbClr val="3B2F1E"/>
                </a:solidFill>
                <a:latin typeface="Calibri"/>
              </a:rPr>
              <a:t>Logic scoring by AI</a:t>
            </a:r>
          </a:p>
        </p:txBody>
      </p:sp>
      <p:sp>
        <p:nvSpPr>
          <p:cNvPr id="13" name="Rectangle 12"/>
          <p:cNvSpPr/>
          <p:nvPr/>
        </p:nvSpPr>
        <p:spPr>
          <a:xfrm>
            <a:off x="731520" y="2423160"/>
            <a:ext cx="10728655" cy="594360"/>
          </a:xfrm>
          <a:prstGeom prst="rect">
            <a:avLst/>
          </a:prstGeom>
          <a:solidFill>
            <a:srgbClr val="F4ECD8"/>
          </a:solidFill>
          <a:ln w="635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514600"/>
            <a:ext cx="4815687" cy="457200"/>
          </a:xfrm>
          <a:prstGeom prst="rect">
            <a:avLst/>
          </a:prstGeom>
          <a:noFill/>
        </p:spPr>
        <p:txBody>
          <a:bodyPr wrap="square" lIns="45720" rIns="45720" tIns="18288" bIns="18288" anchor="ctr">
            <a:spAutoFit/>
          </a:bodyPr>
          <a:lstStyle/>
          <a:p>
            <a:pPr algn="l">
              <a:lnSpc>
                <a:spcPct val="115000"/>
              </a:lnSpc>
            </a:pPr>
            <a:r>
              <a:rPr sz="1500" b="0" i="0">
                <a:solidFill>
                  <a:srgbClr val="6B5536"/>
                </a:solidFill>
                <a:latin typeface="Calibri"/>
              </a:rPr>
              <a:t>Hand-written NPCs</a:t>
            </a:r>
          </a:p>
        </p:txBody>
      </p:sp>
      <p:sp>
        <p:nvSpPr>
          <p:cNvPr id="15" name="TextBox 14"/>
          <p:cNvSpPr txBox="1"/>
          <p:nvPr/>
        </p:nvSpPr>
        <p:spPr>
          <a:xfrm>
            <a:off x="6370167" y="2514600"/>
            <a:ext cx="4815687" cy="457200"/>
          </a:xfrm>
          <a:prstGeom prst="rect">
            <a:avLst/>
          </a:prstGeom>
          <a:noFill/>
        </p:spPr>
        <p:txBody>
          <a:bodyPr wrap="square" lIns="45720" rIns="45720" tIns="18288" bIns="18288" anchor="ctr">
            <a:spAutoFit/>
          </a:bodyPr>
          <a:lstStyle/>
          <a:p>
            <a:pPr algn="l">
              <a:lnSpc>
                <a:spcPct val="115000"/>
              </a:lnSpc>
            </a:pPr>
            <a:r>
              <a:rPr sz="1500" b="1" i="0">
                <a:solidFill>
                  <a:srgbClr val="3B2F1E"/>
                </a:solidFill>
                <a:latin typeface="Calibri"/>
              </a:rPr>
              <a:t>LLM-generated dossiers (logical chain)</a:t>
            </a:r>
          </a:p>
        </p:txBody>
      </p:sp>
      <p:sp>
        <p:nvSpPr>
          <p:cNvPr id="16" name="Rectangle 15"/>
          <p:cNvSpPr/>
          <p:nvPr/>
        </p:nvSpPr>
        <p:spPr>
          <a:xfrm>
            <a:off x="731520" y="3017520"/>
            <a:ext cx="10728655" cy="594360"/>
          </a:xfrm>
          <a:prstGeom prst="rect">
            <a:avLst/>
          </a:prstGeom>
          <a:solidFill>
            <a:srgbClr val="FAF4E5"/>
          </a:solidFill>
          <a:ln w="635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108960"/>
            <a:ext cx="4815687" cy="457200"/>
          </a:xfrm>
          <a:prstGeom prst="rect">
            <a:avLst/>
          </a:prstGeom>
          <a:noFill/>
        </p:spPr>
        <p:txBody>
          <a:bodyPr wrap="square" lIns="45720" rIns="45720" tIns="18288" bIns="18288" anchor="ctr">
            <a:spAutoFit/>
          </a:bodyPr>
          <a:lstStyle/>
          <a:p>
            <a:pPr algn="l">
              <a:lnSpc>
                <a:spcPct val="115000"/>
              </a:lnSpc>
            </a:pPr>
            <a:r>
              <a:rPr sz="1500" b="0" i="0">
                <a:solidFill>
                  <a:srgbClr val="6B5536"/>
                </a:solidFill>
                <a:latin typeface="Calibri"/>
              </a:rPr>
              <a:t>Pre-rendered art</a:t>
            </a:r>
          </a:p>
        </p:txBody>
      </p:sp>
      <p:sp>
        <p:nvSpPr>
          <p:cNvPr id="18" name="TextBox 17"/>
          <p:cNvSpPr txBox="1"/>
          <p:nvPr/>
        </p:nvSpPr>
        <p:spPr>
          <a:xfrm>
            <a:off x="6370167" y="3108960"/>
            <a:ext cx="4815687" cy="457200"/>
          </a:xfrm>
          <a:prstGeom prst="rect">
            <a:avLst/>
          </a:prstGeom>
          <a:noFill/>
        </p:spPr>
        <p:txBody>
          <a:bodyPr wrap="square" lIns="45720" rIns="45720" tIns="18288" bIns="18288" anchor="ctr">
            <a:spAutoFit/>
          </a:bodyPr>
          <a:lstStyle/>
          <a:p>
            <a:pPr algn="l">
              <a:lnSpc>
                <a:spcPct val="115000"/>
              </a:lnSpc>
            </a:pPr>
            <a:r>
              <a:rPr sz="1500" b="1" i="0">
                <a:solidFill>
                  <a:srgbClr val="3B2F1E"/>
                </a:solidFill>
                <a:latin typeface="Calibri"/>
              </a:rPr>
              <a:t>Runtime pixel art (local GPU)</a:t>
            </a:r>
          </a:p>
        </p:txBody>
      </p:sp>
      <p:sp>
        <p:nvSpPr>
          <p:cNvPr id="19" name="Rectangle 18"/>
          <p:cNvSpPr/>
          <p:nvPr/>
        </p:nvSpPr>
        <p:spPr>
          <a:xfrm>
            <a:off x="731520" y="3611880"/>
            <a:ext cx="10728655" cy="594360"/>
          </a:xfrm>
          <a:prstGeom prst="rect">
            <a:avLst/>
          </a:prstGeom>
          <a:solidFill>
            <a:srgbClr val="F4ECD8"/>
          </a:solidFill>
          <a:ln w="635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703320"/>
            <a:ext cx="4815687" cy="457200"/>
          </a:xfrm>
          <a:prstGeom prst="rect">
            <a:avLst/>
          </a:prstGeom>
          <a:noFill/>
        </p:spPr>
        <p:txBody>
          <a:bodyPr wrap="square" lIns="45720" rIns="45720" tIns="18288" bIns="18288" anchor="ctr">
            <a:spAutoFit/>
          </a:bodyPr>
          <a:lstStyle/>
          <a:p>
            <a:pPr algn="l">
              <a:lnSpc>
                <a:spcPct val="115000"/>
              </a:lnSpc>
            </a:pPr>
            <a:r>
              <a:rPr sz="1500" b="0" i="0">
                <a:solidFill>
                  <a:srgbClr val="6B5536"/>
                </a:solidFill>
                <a:latin typeface="Calibri"/>
              </a:rPr>
              <a:t>One-true-answer puzzle</a:t>
            </a:r>
          </a:p>
        </p:txBody>
      </p:sp>
      <p:sp>
        <p:nvSpPr>
          <p:cNvPr id="21" name="TextBox 20"/>
          <p:cNvSpPr txBox="1"/>
          <p:nvPr/>
        </p:nvSpPr>
        <p:spPr>
          <a:xfrm>
            <a:off x="6370167" y="3703320"/>
            <a:ext cx="4815687" cy="457200"/>
          </a:xfrm>
          <a:prstGeom prst="rect">
            <a:avLst/>
          </a:prstGeom>
          <a:noFill/>
        </p:spPr>
        <p:txBody>
          <a:bodyPr wrap="square" lIns="45720" rIns="45720" tIns="18288" bIns="18288" anchor="ctr">
            <a:spAutoFit/>
          </a:bodyPr>
          <a:lstStyle/>
          <a:p>
            <a:pPr algn="l">
              <a:lnSpc>
                <a:spcPct val="115000"/>
              </a:lnSpc>
            </a:pPr>
            <a:r>
              <a:rPr sz="1500" b="1" i="0">
                <a:solidFill>
                  <a:srgbClr val="3B2F1E"/>
                </a:solidFill>
                <a:latin typeface="Calibri"/>
              </a:rPr>
              <a:t>Soft-gate memo (interpretation matters)</a:t>
            </a:r>
          </a:p>
        </p:txBody>
      </p:sp>
      <p:sp>
        <p:nvSpPr>
          <p:cNvPr id="22" name="Rectangle 21"/>
          <p:cNvSpPr/>
          <p:nvPr/>
        </p:nvSpPr>
        <p:spPr>
          <a:xfrm>
            <a:off x="731520" y="4937760"/>
            <a:ext cx="3393338" cy="1188720"/>
          </a:xfrm>
          <a:prstGeom prst="rect">
            <a:avLst/>
          </a:prstGeom>
          <a:solidFill>
            <a:srgbClr val="E6C97B"/>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29200"/>
            <a:ext cx="3393338" cy="457200"/>
          </a:xfrm>
          <a:prstGeom prst="rect">
            <a:avLst/>
          </a:prstGeom>
          <a:noFill/>
        </p:spPr>
        <p:txBody>
          <a:bodyPr wrap="square" lIns="45720" rIns="45720" tIns="18288" bIns="18288" anchor="t">
            <a:spAutoFit/>
          </a:bodyPr>
          <a:lstStyle/>
          <a:p>
            <a:pPr algn="ctr">
              <a:lnSpc>
                <a:spcPct val="115000"/>
              </a:lnSpc>
            </a:pPr>
            <a:r>
              <a:rPr sz="2800" b="1" i="0">
                <a:solidFill>
                  <a:srgbClr val="3B2F1E"/>
                </a:solidFill>
                <a:latin typeface="Garamond"/>
              </a:rPr>
              <a:t>①</a:t>
            </a:r>
          </a:p>
        </p:txBody>
      </p:sp>
      <p:sp>
        <p:nvSpPr>
          <p:cNvPr id="24" name="TextBox 23"/>
          <p:cNvSpPr txBox="1"/>
          <p:nvPr/>
        </p:nvSpPr>
        <p:spPr>
          <a:xfrm>
            <a:off x="868680" y="5532120"/>
            <a:ext cx="3119018" cy="548640"/>
          </a:xfrm>
          <a:prstGeom prst="rect">
            <a:avLst/>
          </a:prstGeom>
          <a:noFill/>
        </p:spPr>
        <p:txBody>
          <a:bodyPr wrap="square" lIns="45720" rIns="45720" tIns="18288" bIns="18288" anchor="t">
            <a:spAutoFit/>
          </a:bodyPr>
          <a:lstStyle/>
          <a:p>
            <a:pPr algn="ctr">
              <a:lnSpc>
                <a:spcPct val="120000"/>
              </a:lnSpc>
            </a:pPr>
            <a:r>
              <a:rPr sz="1200" b="0" i="0">
                <a:solidFill>
                  <a:srgbClr val="3B2F1E"/>
                </a:solidFill>
                <a:latin typeface="Calibri"/>
              </a:rPr>
              <a:t>Replayability without scaling content cost</a:t>
            </a:r>
          </a:p>
        </p:txBody>
      </p:sp>
      <p:sp>
        <p:nvSpPr>
          <p:cNvPr id="25" name="Rectangle 24"/>
          <p:cNvSpPr/>
          <p:nvPr/>
        </p:nvSpPr>
        <p:spPr>
          <a:xfrm>
            <a:off x="4399178" y="4937760"/>
            <a:ext cx="3393338" cy="1188720"/>
          </a:xfrm>
          <a:prstGeom prst="rect">
            <a:avLst/>
          </a:prstGeom>
          <a:solidFill>
            <a:srgbClr val="E6C97B"/>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99178" y="5029200"/>
            <a:ext cx="3393338" cy="457200"/>
          </a:xfrm>
          <a:prstGeom prst="rect">
            <a:avLst/>
          </a:prstGeom>
          <a:noFill/>
        </p:spPr>
        <p:txBody>
          <a:bodyPr wrap="square" lIns="45720" rIns="45720" tIns="18288" bIns="18288" anchor="t">
            <a:spAutoFit/>
          </a:bodyPr>
          <a:lstStyle/>
          <a:p>
            <a:pPr algn="ctr">
              <a:lnSpc>
                <a:spcPct val="115000"/>
              </a:lnSpc>
            </a:pPr>
            <a:r>
              <a:rPr sz="2800" b="1" i="0">
                <a:solidFill>
                  <a:srgbClr val="3B2F1E"/>
                </a:solidFill>
                <a:latin typeface="Garamond"/>
              </a:rPr>
              <a:t>②</a:t>
            </a:r>
          </a:p>
        </p:txBody>
      </p:sp>
      <p:sp>
        <p:nvSpPr>
          <p:cNvPr id="27" name="TextBox 26"/>
          <p:cNvSpPr txBox="1"/>
          <p:nvPr/>
        </p:nvSpPr>
        <p:spPr>
          <a:xfrm>
            <a:off x="4536338" y="5532120"/>
            <a:ext cx="3119018" cy="548640"/>
          </a:xfrm>
          <a:prstGeom prst="rect">
            <a:avLst/>
          </a:prstGeom>
          <a:noFill/>
        </p:spPr>
        <p:txBody>
          <a:bodyPr wrap="square" lIns="45720" rIns="45720" tIns="18288" bIns="18288" anchor="t">
            <a:spAutoFit/>
          </a:bodyPr>
          <a:lstStyle/>
          <a:p>
            <a:pPr algn="ctr">
              <a:lnSpc>
                <a:spcPct val="120000"/>
              </a:lnSpc>
            </a:pPr>
            <a:r>
              <a:rPr sz="1200" b="0" i="0">
                <a:solidFill>
                  <a:srgbClr val="3B2F1E"/>
                </a:solidFill>
                <a:latin typeface="Calibri"/>
              </a:rPr>
              <a:t>AI as both narrator AND judge — closed feedback loop</a:t>
            </a:r>
          </a:p>
        </p:txBody>
      </p:sp>
      <p:sp>
        <p:nvSpPr>
          <p:cNvPr id="28" name="Rectangle 27"/>
          <p:cNvSpPr/>
          <p:nvPr/>
        </p:nvSpPr>
        <p:spPr>
          <a:xfrm>
            <a:off x="8066836" y="4937760"/>
            <a:ext cx="3393338" cy="1188720"/>
          </a:xfrm>
          <a:prstGeom prst="rect">
            <a:avLst/>
          </a:prstGeom>
          <a:solidFill>
            <a:srgbClr val="E6C97B"/>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66836" y="5029200"/>
            <a:ext cx="3393338" cy="457200"/>
          </a:xfrm>
          <a:prstGeom prst="rect">
            <a:avLst/>
          </a:prstGeom>
          <a:noFill/>
        </p:spPr>
        <p:txBody>
          <a:bodyPr wrap="square" lIns="45720" rIns="45720" tIns="18288" bIns="18288" anchor="t">
            <a:spAutoFit/>
          </a:bodyPr>
          <a:lstStyle/>
          <a:p>
            <a:pPr algn="ctr">
              <a:lnSpc>
                <a:spcPct val="115000"/>
              </a:lnSpc>
            </a:pPr>
            <a:r>
              <a:rPr sz="2800" b="1" i="0">
                <a:solidFill>
                  <a:srgbClr val="3B2F1E"/>
                </a:solidFill>
                <a:latin typeface="Garamond"/>
              </a:rPr>
              <a:t>③</a:t>
            </a:r>
          </a:p>
        </p:txBody>
      </p:sp>
      <p:sp>
        <p:nvSpPr>
          <p:cNvPr id="30" name="TextBox 29"/>
          <p:cNvSpPr txBox="1"/>
          <p:nvPr/>
        </p:nvSpPr>
        <p:spPr>
          <a:xfrm>
            <a:off x="8203996" y="5532120"/>
            <a:ext cx="3119018" cy="548640"/>
          </a:xfrm>
          <a:prstGeom prst="rect">
            <a:avLst/>
          </a:prstGeom>
          <a:noFill/>
        </p:spPr>
        <p:txBody>
          <a:bodyPr wrap="square" lIns="45720" rIns="45720" tIns="18288" bIns="18288" anchor="t">
            <a:spAutoFit/>
          </a:bodyPr>
          <a:lstStyle/>
          <a:p>
            <a:pPr algn="ctr">
              <a:lnSpc>
                <a:spcPct val="120000"/>
              </a:lnSpc>
            </a:pPr>
            <a:r>
              <a:rPr sz="1200" b="0" i="0">
                <a:solidFill>
                  <a:srgbClr val="3B2F1E"/>
                </a:solidFill>
                <a:latin typeface="Calibri"/>
              </a:rPr>
              <a:t>Viable production pattern for indie devs on cheap GPUs</a:t>
            </a:r>
          </a:p>
        </p:txBody>
      </p:sp>
      <p:sp>
        <p:nvSpPr>
          <p:cNvPr id="31" name="TextBox 30"/>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32" name="TextBox 31"/>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System Architecture</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7</a:t>
            </a:r>
          </a:p>
        </p:txBody>
      </p:sp>
      <p:sp>
        <p:nvSpPr>
          <p:cNvPr id="6" name="Rectangle 5"/>
          <p:cNvSpPr/>
          <p:nvPr/>
        </p:nvSpPr>
        <p:spPr>
          <a:xfrm>
            <a:off x="4815687" y="1691640"/>
            <a:ext cx="2560320" cy="1371600"/>
          </a:xfrm>
          <a:prstGeom prst="rect">
            <a:avLst/>
          </a:prstGeom>
          <a:solidFill>
            <a:srgbClr val="C9A24A"/>
          </a:solidFill>
          <a:ln w="190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15687" y="1874520"/>
            <a:ext cx="2560320" cy="457200"/>
          </a:xfrm>
          <a:prstGeom prst="rect">
            <a:avLst/>
          </a:prstGeom>
          <a:noFill/>
        </p:spPr>
        <p:txBody>
          <a:bodyPr wrap="square" lIns="45720" rIns="45720" tIns="18288" bIns="18288" anchor="t">
            <a:spAutoFit/>
          </a:bodyPr>
          <a:lstStyle/>
          <a:p>
            <a:pPr algn="ctr">
              <a:lnSpc>
                <a:spcPct val="115000"/>
              </a:lnSpc>
            </a:pPr>
            <a:r>
              <a:rPr sz="2000" b="1" i="0">
                <a:solidFill>
                  <a:srgbClr val="3B2F1E"/>
                </a:solidFill>
                <a:latin typeface="Garamond"/>
              </a:rPr>
              <a:t>Unity Client</a:t>
            </a:r>
          </a:p>
        </p:txBody>
      </p:sp>
      <p:sp>
        <p:nvSpPr>
          <p:cNvPr id="8" name="TextBox 7"/>
          <p:cNvSpPr txBox="1"/>
          <p:nvPr/>
        </p:nvSpPr>
        <p:spPr>
          <a:xfrm>
            <a:off x="4815687" y="2331720"/>
            <a:ext cx="2560320" cy="365760"/>
          </a:xfrm>
          <a:prstGeom prst="rect">
            <a:avLst/>
          </a:prstGeom>
          <a:noFill/>
        </p:spPr>
        <p:txBody>
          <a:bodyPr wrap="square" lIns="45720" rIns="45720" tIns="18288" bIns="18288" anchor="t">
            <a:spAutoFit/>
          </a:bodyPr>
          <a:lstStyle/>
          <a:p>
            <a:pPr algn="ctr">
              <a:lnSpc>
                <a:spcPct val="115000"/>
              </a:lnSpc>
            </a:pPr>
            <a:r>
              <a:rPr sz="1200" b="0" i="0">
                <a:solidFill>
                  <a:srgbClr val="3B2F1E"/>
                </a:solidFill>
                <a:latin typeface="Calibri"/>
              </a:rPr>
              <a:t>Unity 6 + URP</a:t>
            </a:r>
          </a:p>
        </p:txBody>
      </p:sp>
      <p:sp>
        <p:nvSpPr>
          <p:cNvPr id="9" name="TextBox 8"/>
          <p:cNvSpPr txBox="1"/>
          <p:nvPr/>
        </p:nvSpPr>
        <p:spPr>
          <a:xfrm>
            <a:off x="4815687" y="2651760"/>
            <a:ext cx="2560320" cy="365760"/>
          </a:xfrm>
          <a:prstGeom prst="rect">
            <a:avLst/>
          </a:prstGeom>
          <a:noFill/>
        </p:spPr>
        <p:txBody>
          <a:bodyPr wrap="square" lIns="45720" rIns="45720" tIns="18288" bIns="18288" anchor="t">
            <a:spAutoFit/>
          </a:bodyPr>
          <a:lstStyle/>
          <a:p>
            <a:pPr algn="ctr">
              <a:lnSpc>
                <a:spcPct val="115000"/>
              </a:lnSpc>
            </a:pPr>
            <a:r>
              <a:rPr sz="1100" b="0" i="1">
                <a:solidFill>
                  <a:srgbClr val="6B5536"/>
                </a:solidFill>
                <a:latin typeface="Calibri"/>
              </a:rPr>
              <a:t>GameManager singleton</a:t>
            </a:r>
          </a:p>
        </p:txBody>
      </p:sp>
      <p:sp>
        <p:nvSpPr>
          <p:cNvPr id="10" name="Rectangle 9"/>
          <p:cNvSpPr/>
          <p:nvPr/>
        </p:nvSpPr>
        <p:spPr>
          <a:xfrm>
            <a:off x="8991295" y="1691640"/>
            <a:ext cx="2560320" cy="1371600"/>
          </a:xfrm>
          <a:prstGeom prst="rect">
            <a:avLst/>
          </a:prstGeom>
          <a:solidFill>
            <a:srgbClr val="FAF4E5"/>
          </a:solidFill>
          <a:ln w="190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91295" y="1874520"/>
            <a:ext cx="2560320" cy="457200"/>
          </a:xfrm>
          <a:prstGeom prst="rect">
            <a:avLst/>
          </a:prstGeom>
          <a:noFill/>
        </p:spPr>
        <p:txBody>
          <a:bodyPr wrap="square" lIns="45720" rIns="45720" tIns="18288" bIns="18288" anchor="t">
            <a:spAutoFit/>
          </a:bodyPr>
          <a:lstStyle/>
          <a:p>
            <a:pPr algn="ctr">
              <a:lnSpc>
                <a:spcPct val="115000"/>
              </a:lnSpc>
            </a:pPr>
            <a:r>
              <a:rPr sz="1800" b="1" i="0">
                <a:solidFill>
                  <a:srgbClr val="3B2F1E"/>
                </a:solidFill>
                <a:latin typeface="Garamond"/>
              </a:rPr>
              <a:t>OpenAI GPT-4o</a:t>
            </a:r>
          </a:p>
        </p:txBody>
      </p:sp>
      <p:sp>
        <p:nvSpPr>
          <p:cNvPr id="12" name="TextBox 11"/>
          <p:cNvSpPr txBox="1"/>
          <p:nvPr/>
        </p:nvSpPr>
        <p:spPr>
          <a:xfrm>
            <a:off x="8991295" y="2331720"/>
            <a:ext cx="2560320" cy="640080"/>
          </a:xfrm>
          <a:prstGeom prst="rect">
            <a:avLst/>
          </a:prstGeom>
          <a:noFill/>
        </p:spPr>
        <p:txBody>
          <a:bodyPr wrap="square" lIns="45720" rIns="45720" tIns="18288" bIns="18288" anchor="t">
            <a:spAutoFit/>
          </a:bodyPr>
          <a:lstStyle/>
          <a:p>
            <a:pPr algn="ctr">
              <a:lnSpc>
                <a:spcPct val="120000"/>
              </a:lnSpc>
            </a:pPr>
            <a:r>
              <a:rPr sz="1100" b="0" i="0">
                <a:solidFill>
                  <a:srgbClr val="6B5536"/>
                </a:solidFill>
                <a:latin typeface="Calibri"/>
              </a:rPr>
              <a:t>~6 calls / day
 customer · material · wand · judge</a:t>
            </a:r>
          </a:p>
        </p:txBody>
      </p:sp>
      <p:sp>
        <p:nvSpPr>
          <p:cNvPr id="13" name="Rectangle 12"/>
          <p:cNvSpPr/>
          <p:nvPr/>
        </p:nvSpPr>
        <p:spPr>
          <a:xfrm>
            <a:off x="640080" y="1691640"/>
            <a:ext cx="2560320" cy="1371600"/>
          </a:xfrm>
          <a:prstGeom prst="rect">
            <a:avLst/>
          </a:prstGeom>
          <a:solidFill>
            <a:srgbClr val="FAF4E5"/>
          </a:solidFill>
          <a:ln w="190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874520"/>
            <a:ext cx="2560320" cy="457200"/>
          </a:xfrm>
          <a:prstGeom prst="rect">
            <a:avLst/>
          </a:prstGeom>
          <a:noFill/>
        </p:spPr>
        <p:txBody>
          <a:bodyPr wrap="square" lIns="45720" rIns="45720" tIns="18288" bIns="18288" anchor="t">
            <a:spAutoFit/>
          </a:bodyPr>
          <a:lstStyle/>
          <a:p>
            <a:pPr algn="ctr">
              <a:lnSpc>
                <a:spcPct val="115000"/>
              </a:lnSpc>
            </a:pPr>
            <a:r>
              <a:rPr sz="1800" b="1" i="0">
                <a:solidFill>
                  <a:srgbClr val="3B2F1E"/>
                </a:solidFill>
                <a:latin typeface="Garamond"/>
              </a:rPr>
              <a:t>ComfyUI (local)</a:t>
            </a:r>
          </a:p>
        </p:txBody>
      </p:sp>
      <p:sp>
        <p:nvSpPr>
          <p:cNvPr id="15" name="TextBox 14"/>
          <p:cNvSpPr txBox="1"/>
          <p:nvPr/>
        </p:nvSpPr>
        <p:spPr>
          <a:xfrm>
            <a:off x="640080" y="2331720"/>
            <a:ext cx="2560320" cy="640080"/>
          </a:xfrm>
          <a:prstGeom prst="rect">
            <a:avLst/>
          </a:prstGeom>
          <a:noFill/>
        </p:spPr>
        <p:txBody>
          <a:bodyPr wrap="square" lIns="45720" rIns="45720" tIns="18288" bIns="18288" anchor="t">
            <a:spAutoFit/>
          </a:bodyPr>
          <a:lstStyle/>
          <a:p>
            <a:pPr algn="ctr">
              <a:lnSpc>
                <a:spcPct val="120000"/>
              </a:lnSpc>
            </a:pPr>
            <a:r>
              <a:rPr sz="1100" b="0" i="0">
                <a:solidFill>
                  <a:srgbClr val="6B5536"/>
                </a:solidFill>
                <a:latin typeface="Calibri"/>
              </a:rPr>
              <a:t>Z-Image Turbo · INT4
8 GB VRAM laptop GPU</a:t>
            </a:r>
          </a:p>
        </p:txBody>
      </p:sp>
      <p:cxnSp>
        <p:nvCxnSpPr>
          <p:cNvPr id="16" name="Connector 15"/>
          <p:cNvCxnSpPr/>
          <p:nvPr/>
        </p:nvCxnSpPr>
        <p:spPr>
          <a:xfrm flipH="1">
            <a:off x="3200400" y="2240280"/>
            <a:ext cx="1615287.5" cy="0"/>
          </a:xfrm>
          <a:prstGeom prst="line">
            <a:avLst/>
          </a:prstGeom>
          <a:ln w="25400">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3200400" y="2560320"/>
            <a:ext cx="1615287.5" cy="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00400" y="1645920"/>
            <a:ext cx="1828800" cy="274320"/>
          </a:xfrm>
          <a:prstGeom prst="rect">
            <a:avLst/>
          </a:prstGeom>
          <a:noFill/>
        </p:spPr>
        <p:txBody>
          <a:bodyPr wrap="square" lIns="45720" rIns="45720" tIns="18288" bIns="18288" anchor="t">
            <a:spAutoFit/>
          </a:bodyPr>
          <a:lstStyle/>
          <a:p>
            <a:pPr algn="l">
              <a:lnSpc>
                <a:spcPct val="115000"/>
              </a:lnSpc>
            </a:pPr>
            <a:r>
              <a:rPr sz="1000" b="0" i="1">
                <a:solidFill>
                  <a:srgbClr val="6B5536"/>
                </a:solidFill>
                <a:latin typeface="Calibri"/>
              </a:rPr>
              <a:t>workflow JSON →</a:t>
            </a:r>
          </a:p>
        </p:txBody>
      </p:sp>
      <p:sp>
        <p:nvSpPr>
          <p:cNvPr id="19" name="TextBox 18"/>
          <p:cNvSpPr txBox="1"/>
          <p:nvPr/>
        </p:nvSpPr>
        <p:spPr>
          <a:xfrm>
            <a:off x="3200400" y="2770632"/>
            <a:ext cx="1828800" cy="274320"/>
          </a:xfrm>
          <a:prstGeom prst="rect">
            <a:avLst/>
          </a:prstGeom>
          <a:noFill/>
        </p:spPr>
        <p:txBody>
          <a:bodyPr wrap="square" lIns="45720" rIns="45720" tIns="18288" bIns="18288" anchor="t">
            <a:spAutoFit/>
          </a:bodyPr>
          <a:lstStyle/>
          <a:p>
            <a:pPr algn="l">
              <a:lnSpc>
                <a:spcPct val="115000"/>
              </a:lnSpc>
            </a:pPr>
            <a:r>
              <a:rPr sz="1000" b="0" i="1">
                <a:solidFill>
                  <a:srgbClr val="6B5536"/>
                </a:solidFill>
                <a:latin typeface="Calibri"/>
              </a:rPr>
              <a:t>← PNG bytes</a:t>
            </a:r>
          </a:p>
        </p:txBody>
      </p:sp>
      <p:cxnSp>
        <p:nvCxnSpPr>
          <p:cNvPr id="20" name="Connector 19"/>
          <p:cNvCxnSpPr/>
          <p:nvPr/>
        </p:nvCxnSpPr>
        <p:spPr>
          <a:xfrm>
            <a:off x="7376007.5" y="2240280"/>
            <a:ext cx="1615287.5" cy="0"/>
          </a:xfrm>
          <a:prstGeom prst="line">
            <a:avLst/>
          </a:prstGeom>
          <a:ln w="25400">
            <a:solidFill>
              <a:srgbClr val="C9A24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376007.5" y="2560320"/>
            <a:ext cx="1615287.5" cy="0"/>
          </a:xfrm>
          <a:prstGeom prst="line">
            <a:avLst/>
          </a:prstGeom>
          <a:ln w="12700">
            <a:solidFill>
              <a:srgbClr val="E6C97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76007" y="1645920"/>
            <a:ext cx="2286000" cy="274320"/>
          </a:xfrm>
          <a:prstGeom prst="rect">
            <a:avLst/>
          </a:prstGeom>
          <a:noFill/>
        </p:spPr>
        <p:txBody>
          <a:bodyPr wrap="square" lIns="45720" rIns="45720" tIns="18288" bIns="18288" anchor="t">
            <a:spAutoFit/>
          </a:bodyPr>
          <a:lstStyle/>
          <a:p>
            <a:pPr algn="r">
              <a:lnSpc>
                <a:spcPct val="115000"/>
              </a:lnSpc>
            </a:pPr>
            <a:r>
              <a:rPr sz="1000" b="0" i="1">
                <a:solidFill>
                  <a:srgbClr val="6B5536"/>
                </a:solidFill>
                <a:latin typeface="Calibri"/>
              </a:rPr>
              <a:t>→ prompt + dossier</a:t>
            </a:r>
          </a:p>
        </p:txBody>
      </p:sp>
      <p:sp>
        <p:nvSpPr>
          <p:cNvPr id="23" name="TextBox 22"/>
          <p:cNvSpPr txBox="1"/>
          <p:nvPr/>
        </p:nvSpPr>
        <p:spPr>
          <a:xfrm>
            <a:off x="7376007" y="2770632"/>
            <a:ext cx="2286000" cy="274320"/>
          </a:xfrm>
          <a:prstGeom prst="rect">
            <a:avLst/>
          </a:prstGeom>
          <a:noFill/>
        </p:spPr>
        <p:txBody>
          <a:bodyPr wrap="square" lIns="45720" rIns="45720" tIns="18288" bIns="18288" anchor="t">
            <a:spAutoFit/>
          </a:bodyPr>
          <a:lstStyle/>
          <a:p>
            <a:pPr algn="r">
              <a:lnSpc>
                <a:spcPct val="115000"/>
              </a:lnSpc>
            </a:pPr>
            <a:r>
              <a:rPr sz="1000" b="0" i="1">
                <a:solidFill>
                  <a:srgbClr val="6B5536"/>
                </a:solidFill>
                <a:latin typeface="Calibri"/>
              </a:rPr>
              <a:t>← JSON verdict / dossier</a:t>
            </a:r>
          </a:p>
        </p:txBody>
      </p:sp>
      <p:sp>
        <p:nvSpPr>
          <p:cNvPr id="24" name="TextBox 23"/>
          <p:cNvSpPr txBox="1"/>
          <p:nvPr/>
        </p:nvSpPr>
        <p:spPr>
          <a:xfrm>
            <a:off x="640080" y="3703319"/>
            <a:ext cx="10911535" cy="365760"/>
          </a:xfrm>
          <a:prstGeom prst="rect">
            <a:avLst/>
          </a:prstGeom>
          <a:noFill/>
        </p:spPr>
        <p:txBody>
          <a:bodyPr wrap="square" lIns="45720" rIns="45720" tIns="18288" bIns="18288" anchor="t">
            <a:spAutoFit/>
          </a:bodyPr>
          <a:lstStyle/>
          <a:p>
            <a:pPr algn="ctr">
              <a:lnSpc>
                <a:spcPct val="115000"/>
              </a:lnSpc>
            </a:pPr>
            <a:r>
              <a:rPr sz="1500" b="1" i="0">
                <a:solidFill>
                  <a:srgbClr val="3B2F1E"/>
                </a:solidFill>
                <a:latin typeface="Garamond"/>
              </a:rPr>
              <a:t>8-Scene Game Loop</a:t>
            </a:r>
          </a:p>
        </p:txBody>
      </p:sp>
      <p:sp>
        <p:nvSpPr>
          <p:cNvPr id="25" name="Rectangle 24"/>
          <p:cNvSpPr/>
          <p:nvPr/>
        </p:nvSpPr>
        <p:spPr>
          <a:xfrm>
            <a:off x="640080"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Title</a:t>
            </a:r>
          </a:p>
        </p:txBody>
      </p:sp>
      <p:sp>
        <p:nvSpPr>
          <p:cNvPr id="27" name="Rectangle 26"/>
          <p:cNvSpPr/>
          <p:nvPr/>
        </p:nvSpPr>
        <p:spPr>
          <a:xfrm>
            <a:off x="1535391"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35391"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Morning</a:t>
            </a:r>
          </a:p>
        </p:txBody>
      </p:sp>
      <p:sp>
        <p:nvSpPr>
          <p:cNvPr id="29" name="Rectangle 28"/>
          <p:cNvSpPr/>
          <p:nvPr/>
        </p:nvSpPr>
        <p:spPr>
          <a:xfrm>
            <a:off x="2430703"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30703"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Customer</a:t>
            </a:r>
          </a:p>
        </p:txBody>
      </p:sp>
      <p:sp>
        <p:nvSpPr>
          <p:cNvPr id="31" name="Rectangle 30"/>
          <p:cNvSpPr/>
          <p:nvPr/>
        </p:nvSpPr>
        <p:spPr>
          <a:xfrm>
            <a:off x="3326015"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26015"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Material</a:t>
            </a:r>
          </a:p>
        </p:txBody>
      </p:sp>
      <p:sp>
        <p:nvSpPr>
          <p:cNvPr id="33" name="Rectangle 32"/>
          <p:cNvSpPr/>
          <p:nvPr/>
        </p:nvSpPr>
        <p:spPr>
          <a:xfrm>
            <a:off x="4221327"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21327"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Crafting</a:t>
            </a:r>
          </a:p>
        </p:txBody>
      </p:sp>
      <p:sp>
        <p:nvSpPr>
          <p:cNvPr id="35" name="Rectangle 34"/>
          <p:cNvSpPr/>
          <p:nvPr/>
        </p:nvSpPr>
        <p:spPr>
          <a:xfrm>
            <a:off x="5116639" y="4114799"/>
            <a:ext cx="803871" cy="822960"/>
          </a:xfrm>
          <a:prstGeom prst="rect">
            <a:avLst/>
          </a:prstGeom>
          <a:solidFill>
            <a:srgbClr val="C9A24A"/>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16639"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Minigame</a:t>
            </a:r>
          </a:p>
        </p:txBody>
      </p:sp>
      <p:sp>
        <p:nvSpPr>
          <p:cNvPr id="37" name="Rectangle 36"/>
          <p:cNvSpPr/>
          <p:nvPr/>
        </p:nvSpPr>
        <p:spPr>
          <a:xfrm>
            <a:off x="6011951"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11951"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Evaluation</a:t>
            </a:r>
          </a:p>
        </p:txBody>
      </p:sp>
      <p:sp>
        <p:nvSpPr>
          <p:cNvPr id="39" name="Rectangle 38"/>
          <p:cNvSpPr/>
          <p:nvPr/>
        </p:nvSpPr>
        <p:spPr>
          <a:xfrm>
            <a:off x="6907263" y="4114799"/>
            <a:ext cx="803871" cy="822960"/>
          </a:xfrm>
          <a:prstGeom prst="rect">
            <a:avLst/>
          </a:prstGeom>
          <a:solidFill>
            <a:srgbClr val="FAF4E5"/>
          </a:solidFill>
          <a:ln w="12700">
            <a:solidFill>
              <a:srgbClr val="6B553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07263" y="4343399"/>
            <a:ext cx="803871" cy="411480"/>
          </a:xfrm>
          <a:prstGeom prst="rect">
            <a:avLst/>
          </a:prstGeom>
          <a:noFill/>
        </p:spPr>
        <p:txBody>
          <a:bodyPr wrap="square" lIns="45720" rIns="45720" tIns="18288" bIns="18288" anchor="ctr">
            <a:spAutoFit/>
          </a:bodyPr>
          <a:lstStyle/>
          <a:p>
            <a:pPr algn="ctr">
              <a:lnSpc>
                <a:spcPct val="115000"/>
              </a:lnSpc>
            </a:pPr>
            <a:r>
              <a:rPr sz="1100" b="1" i="0">
                <a:solidFill>
                  <a:srgbClr val="3B2F1E"/>
                </a:solidFill>
                <a:latin typeface="Garamond"/>
              </a:rPr>
              <a:t>Ending</a:t>
            </a:r>
          </a:p>
        </p:txBody>
      </p:sp>
      <p:sp>
        <p:nvSpPr>
          <p:cNvPr id="41" name="Rectangle 40"/>
          <p:cNvSpPr/>
          <p:nvPr/>
        </p:nvSpPr>
        <p:spPr>
          <a:xfrm>
            <a:off x="640080" y="5486400"/>
            <a:ext cx="10911535" cy="54864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559552"/>
            <a:ext cx="10911535" cy="411480"/>
          </a:xfrm>
          <a:prstGeom prst="rect">
            <a:avLst/>
          </a:prstGeom>
          <a:noFill/>
        </p:spPr>
        <p:txBody>
          <a:bodyPr wrap="square" lIns="45720" rIns="45720" tIns="18288" bIns="18288" anchor="ctr">
            <a:spAutoFit/>
          </a:bodyPr>
          <a:lstStyle/>
          <a:p>
            <a:pPr algn="ctr">
              <a:lnSpc>
                <a:spcPct val="115000"/>
              </a:lnSpc>
            </a:pPr>
            <a:r>
              <a:rPr sz="1300" b="1" i="0">
                <a:solidFill>
                  <a:srgbClr val="E6C97B"/>
                </a:solidFill>
                <a:latin typeface="Calibri"/>
              </a:rPr>
              <a:t>~8,700 LoC   ·   34 scripts   ·   6 GPT-4o calls/day   ·   7 ComfyUI calls/day   ·   60 FPS @ 1080p</a:t>
            </a:r>
          </a:p>
        </p:txBody>
      </p:sp>
      <p:sp>
        <p:nvSpPr>
          <p:cNvPr id="43" name="TextBox 42"/>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44" name="TextBox 43"/>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The Customer Deduction Loop</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8</a:t>
            </a:r>
          </a:p>
        </p:txBody>
      </p:sp>
      <p:sp>
        <p:nvSpPr>
          <p:cNvPr id="6" name="Rectangle 5"/>
          <p:cNvSpPr/>
          <p:nvPr/>
        </p:nvSpPr>
        <p:spPr>
          <a:xfrm>
            <a:off x="640080" y="1325880"/>
            <a:ext cx="4937760" cy="329184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606040"/>
            <a:ext cx="493776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Dossier panel screenshot ]</a:t>
            </a:r>
          </a:p>
        </p:txBody>
      </p:sp>
      <p:sp>
        <p:nvSpPr>
          <p:cNvPr id="8" name="TextBox 7"/>
          <p:cNvSpPr txBox="1"/>
          <p:nvPr/>
        </p:nvSpPr>
        <p:spPr>
          <a:xfrm>
            <a:off x="640080" y="3017520"/>
            <a:ext cx="493776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from CustomerGeneratorTest scene</a:t>
            </a:r>
          </a:p>
        </p:txBody>
      </p:sp>
      <p:sp>
        <p:nvSpPr>
          <p:cNvPr id="9" name="TextBox 8"/>
          <p:cNvSpPr txBox="1"/>
          <p:nvPr/>
        </p:nvSpPr>
        <p:spPr>
          <a:xfrm>
            <a:off x="640080" y="4663440"/>
            <a:ext cx="4937760" cy="365760"/>
          </a:xfrm>
          <a:prstGeom prst="rect">
            <a:avLst/>
          </a:prstGeom>
          <a:noFill/>
        </p:spPr>
        <p:txBody>
          <a:bodyPr wrap="square" lIns="45720" rIns="45720" tIns="18288" bIns="18288" anchor="t">
            <a:spAutoFit/>
          </a:bodyPr>
          <a:lstStyle/>
          <a:p>
            <a:pPr algn="ctr">
              <a:lnSpc>
                <a:spcPct val="115000"/>
              </a:lnSpc>
            </a:pPr>
            <a:r>
              <a:rPr sz="1100" b="0" i="1">
                <a:solidFill>
                  <a:srgbClr val="6B5536"/>
                </a:solidFill>
                <a:latin typeface="Calibri"/>
              </a:rPr>
              <a:t>Generated by GPT-4o · 7-field logical chain</a:t>
            </a:r>
          </a:p>
        </p:txBody>
      </p:sp>
      <p:sp>
        <p:nvSpPr>
          <p:cNvPr id="10" name="Rectangle 9"/>
          <p:cNvSpPr/>
          <p:nvPr/>
        </p:nvSpPr>
        <p:spPr>
          <a:xfrm>
            <a:off x="6613855" y="1325880"/>
            <a:ext cx="4937760" cy="329184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13855" y="2606040"/>
            <a:ext cx="493776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Memo card with 3 slots filled ]</a:t>
            </a:r>
          </a:p>
        </p:txBody>
      </p:sp>
      <p:sp>
        <p:nvSpPr>
          <p:cNvPr id="12" name="TextBox 11"/>
          <p:cNvSpPr txBox="1"/>
          <p:nvPr/>
        </p:nvSpPr>
        <p:spPr>
          <a:xfrm>
            <a:off x="6613855" y="3017520"/>
            <a:ext cx="493776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Purpose · Personality · Element</a:t>
            </a:r>
          </a:p>
        </p:txBody>
      </p:sp>
      <p:sp>
        <p:nvSpPr>
          <p:cNvPr id="13" name="TextBox 12"/>
          <p:cNvSpPr txBox="1"/>
          <p:nvPr/>
        </p:nvSpPr>
        <p:spPr>
          <a:xfrm>
            <a:off x="6613855" y="4663440"/>
            <a:ext cx="4937760" cy="365760"/>
          </a:xfrm>
          <a:prstGeom prst="rect">
            <a:avLst/>
          </a:prstGeom>
          <a:noFill/>
        </p:spPr>
        <p:txBody>
          <a:bodyPr wrap="square" lIns="45720" rIns="45720" tIns="18288" bIns="18288" anchor="t">
            <a:spAutoFit/>
          </a:bodyPr>
          <a:lstStyle/>
          <a:p>
            <a:pPr algn="ctr">
              <a:lnSpc>
                <a:spcPct val="115000"/>
              </a:lnSpc>
            </a:pPr>
            <a:r>
              <a:rPr sz="1100" b="0" i="1">
                <a:solidFill>
                  <a:srgbClr val="6B5536"/>
                </a:solidFill>
                <a:latin typeface="Calibri"/>
              </a:rPr>
              <a:t>Player's interpretation — what they carry forward</a:t>
            </a:r>
          </a:p>
        </p:txBody>
      </p:sp>
      <p:sp>
        <p:nvSpPr>
          <p:cNvPr id="14" name="TextBox 13"/>
          <p:cNvSpPr txBox="1"/>
          <p:nvPr/>
        </p:nvSpPr>
        <p:spPr>
          <a:xfrm>
            <a:off x="5577840" y="2697480"/>
            <a:ext cx="1036015" cy="548640"/>
          </a:xfrm>
          <a:prstGeom prst="rect">
            <a:avLst/>
          </a:prstGeom>
          <a:noFill/>
        </p:spPr>
        <p:txBody>
          <a:bodyPr wrap="square" lIns="45720" rIns="45720" tIns="18288" bIns="18288" anchor="ctr">
            <a:spAutoFit/>
          </a:bodyPr>
          <a:lstStyle/>
          <a:p>
            <a:pPr algn="ctr">
              <a:lnSpc>
                <a:spcPct val="115000"/>
              </a:lnSpc>
            </a:pPr>
            <a:r>
              <a:rPr sz="4400" b="1" i="0">
                <a:solidFill>
                  <a:srgbClr val="C9A24A"/>
                </a:solidFill>
                <a:latin typeface="Garamond"/>
              </a:rPr>
              <a:t>→</a:t>
            </a:r>
          </a:p>
        </p:txBody>
      </p:sp>
      <p:sp>
        <p:nvSpPr>
          <p:cNvPr id="15" name="TextBox 14"/>
          <p:cNvSpPr txBox="1"/>
          <p:nvPr/>
        </p:nvSpPr>
        <p:spPr>
          <a:xfrm>
            <a:off x="5577840" y="3246120"/>
            <a:ext cx="1036015" cy="365760"/>
          </a:xfrm>
          <a:prstGeom prst="rect">
            <a:avLst/>
          </a:prstGeom>
          <a:noFill/>
        </p:spPr>
        <p:txBody>
          <a:bodyPr wrap="square" lIns="45720" rIns="45720" tIns="18288" bIns="18288" anchor="t">
            <a:spAutoFit/>
          </a:bodyPr>
          <a:lstStyle/>
          <a:p>
            <a:pPr algn="ctr">
              <a:lnSpc>
                <a:spcPct val="115000"/>
              </a:lnSpc>
            </a:pPr>
            <a:r>
              <a:rPr sz="1100" b="0" i="1">
                <a:solidFill>
                  <a:srgbClr val="6B5536"/>
                </a:solidFill>
                <a:latin typeface="Calibri"/>
              </a:rPr>
              <a:t>click 3 words</a:t>
            </a:r>
          </a:p>
        </p:txBody>
      </p:sp>
      <p:sp>
        <p:nvSpPr>
          <p:cNvPr id="16" name="Rectangle 15"/>
          <p:cNvSpPr/>
          <p:nvPr/>
        </p:nvSpPr>
        <p:spPr>
          <a:xfrm>
            <a:off x="640080" y="5074920"/>
            <a:ext cx="10911535" cy="54864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148072"/>
            <a:ext cx="10911535" cy="411480"/>
          </a:xfrm>
          <a:prstGeom prst="rect">
            <a:avLst/>
          </a:prstGeom>
          <a:noFill/>
        </p:spPr>
        <p:txBody>
          <a:bodyPr wrap="square" lIns="45720" rIns="45720" tIns="18288" bIns="18288" anchor="ctr">
            <a:spAutoFit/>
          </a:bodyPr>
          <a:lstStyle/>
          <a:p>
            <a:pPr algn="ctr">
              <a:lnSpc>
                <a:spcPct val="115000"/>
              </a:lnSpc>
            </a:pPr>
            <a:r>
              <a:rPr sz="1400" b="1" i="0">
                <a:solidFill>
                  <a:srgbClr val="E6C97B"/>
                </a:solidFill>
                <a:latin typeface="Consolas"/>
              </a:rPr>
              <a:t>schoolOfMagic  →  profession  →  request  →  trueGoal  →  constraint</a:t>
            </a:r>
          </a:p>
        </p:txBody>
      </p:sp>
      <p:sp>
        <p:nvSpPr>
          <p:cNvPr id="18" name="TextBox 17"/>
          <p:cNvSpPr txBox="1"/>
          <p:nvPr/>
        </p:nvSpPr>
        <p:spPr>
          <a:xfrm>
            <a:off x="640080" y="6080760"/>
            <a:ext cx="10911535" cy="365760"/>
          </a:xfrm>
          <a:prstGeom prst="rect">
            <a:avLst/>
          </a:prstGeom>
          <a:noFill/>
        </p:spPr>
        <p:txBody>
          <a:bodyPr wrap="square" lIns="45720" rIns="45720" tIns="18288" bIns="18288" anchor="t">
            <a:spAutoFit/>
          </a:bodyPr>
          <a:lstStyle/>
          <a:p>
            <a:pPr algn="ctr">
              <a:lnSpc>
                <a:spcPct val="115000"/>
              </a:lnSpc>
            </a:pPr>
            <a:r>
              <a:rPr sz="1300" b="0" i="1">
                <a:solidFill>
                  <a:srgbClr val="C9A24A"/>
                </a:solidFill>
                <a:latin typeface="Garamond"/>
              </a:rPr>
              <a:t>“The constraint must be cruelest when it activates exactly when they need control most.” — GDD §3.2</a:t>
            </a:r>
          </a:p>
        </p:txBody>
      </p:sp>
      <p:sp>
        <p:nvSpPr>
          <p:cNvPr id="19" name="TextBox 18"/>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20" name="TextBox 19"/>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The Crafting Ritual</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9</a:t>
            </a:r>
          </a:p>
        </p:txBody>
      </p:sp>
      <p:sp>
        <p:nvSpPr>
          <p:cNvPr id="6" name="Rectangle 5"/>
          <p:cNvSpPr/>
          <p:nvPr/>
        </p:nvSpPr>
        <p:spPr>
          <a:xfrm>
            <a:off x="449427" y="1280160"/>
            <a:ext cx="3611880" cy="219456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9427" y="2011680"/>
            <a:ext cx="361188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Round 1 screenshot ]</a:t>
            </a:r>
          </a:p>
        </p:txBody>
      </p:sp>
      <p:sp>
        <p:nvSpPr>
          <p:cNvPr id="8" name="TextBox 7"/>
          <p:cNvSpPr txBox="1"/>
          <p:nvPr/>
        </p:nvSpPr>
        <p:spPr>
          <a:xfrm>
            <a:off x="449427" y="2423160"/>
            <a:ext cx="361188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5 Tap gates</a:t>
            </a:r>
          </a:p>
        </p:txBody>
      </p:sp>
      <p:sp>
        <p:nvSpPr>
          <p:cNvPr id="9" name="Rectangle 8"/>
          <p:cNvSpPr/>
          <p:nvPr/>
        </p:nvSpPr>
        <p:spPr>
          <a:xfrm>
            <a:off x="449427" y="1280160"/>
            <a:ext cx="3611880" cy="73152"/>
          </a:xfrm>
          <a:prstGeom prst="rect">
            <a:avLst/>
          </a:prstGeom>
          <a:solidFill>
            <a:srgbClr val="D9A0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89907" y="1280160"/>
            <a:ext cx="3611880" cy="219456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89907" y="2011680"/>
            <a:ext cx="361188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Round 2 screenshot ]</a:t>
            </a:r>
          </a:p>
        </p:txBody>
      </p:sp>
      <p:sp>
        <p:nvSpPr>
          <p:cNvPr id="12" name="TextBox 11"/>
          <p:cNvSpPr txBox="1"/>
          <p:nvPr/>
        </p:nvSpPr>
        <p:spPr>
          <a:xfrm>
            <a:off x="4289907" y="2423160"/>
            <a:ext cx="361188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4 Tap + 1 Hold</a:t>
            </a:r>
          </a:p>
        </p:txBody>
      </p:sp>
      <p:sp>
        <p:nvSpPr>
          <p:cNvPr id="13" name="Rectangle 12"/>
          <p:cNvSpPr/>
          <p:nvPr/>
        </p:nvSpPr>
        <p:spPr>
          <a:xfrm>
            <a:off x="4289907" y="1280160"/>
            <a:ext cx="3611880" cy="73152"/>
          </a:xfrm>
          <a:prstGeom prst="rect">
            <a:avLst/>
          </a:prstGeom>
          <a:solidFill>
            <a:srgbClr val="4A8E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30387" y="1280160"/>
            <a:ext cx="3611880" cy="219456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0387" y="2011680"/>
            <a:ext cx="3611880"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Round 3 screenshot ]</a:t>
            </a:r>
          </a:p>
        </p:txBody>
      </p:sp>
      <p:sp>
        <p:nvSpPr>
          <p:cNvPr id="16" name="TextBox 15"/>
          <p:cNvSpPr txBox="1"/>
          <p:nvPr/>
        </p:nvSpPr>
        <p:spPr>
          <a:xfrm>
            <a:off x="8130387" y="2423160"/>
            <a:ext cx="3611880"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3 Tap + 1 Hold + 1 Accent</a:t>
            </a:r>
          </a:p>
        </p:txBody>
      </p:sp>
      <p:sp>
        <p:nvSpPr>
          <p:cNvPr id="17" name="Rectangle 16"/>
          <p:cNvSpPr/>
          <p:nvPr/>
        </p:nvSpPr>
        <p:spPr>
          <a:xfrm>
            <a:off x="8130387" y="1280160"/>
            <a:ext cx="3611880" cy="73152"/>
          </a:xfrm>
          <a:prstGeom prst="rect">
            <a:avLst/>
          </a:prstGeom>
          <a:solidFill>
            <a:srgbClr val="C43B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9427" y="3749040"/>
            <a:ext cx="3611880" cy="868680"/>
          </a:xfrm>
          <a:prstGeom prst="rect">
            <a:avLst/>
          </a:prstGeom>
          <a:solidFill>
            <a:srgbClr val="FAF4E5"/>
          </a:solidFill>
          <a:ln w="25400">
            <a:solidFill>
              <a:srgbClr val="D9A0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307" y="3886200"/>
            <a:ext cx="640080" cy="594360"/>
          </a:xfrm>
          <a:prstGeom prst="rect">
            <a:avLst/>
          </a:prstGeom>
          <a:noFill/>
        </p:spPr>
        <p:txBody>
          <a:bodyPr wrap="square" lIns="45720" rIns="45720" tIns="18288" bIns="18288" anchor="ctr">
            <a:spAutoFit/>
          </a:bodyPr>
          <a:lstStyle/>
          <a:p>
            <a:pPr algn="ctr">
              <a:lnSpc>
                <a:spcPct val="115000"/>
              </a:lnSpc>
            </a:pPr>
            <a:r>
              <a:rPr sz="3200" b="0" i="0">
                <a:solidFill>
                  <a:srgbClr val="D9A04A"/>
                </a:solidFill>
                <a:latin typeface="Garamond"/>
              </a:rPr>
              <a:t>■</a:t>
            </a:r>
          </a:p>
        </p:txBody>
      </p:sp>
      <p:sp>
        <p:nvSpPr>
          <p:cNvPr id="20" name="TextBox 19"/>
          <p:cNvSpPr txBox="1"/>
          <p:nvPr/>
        </p:nvSpPr>
        <p:spPr>
          <a:xfrm>
            <a:off x="1318107" y="3840480"/>
            <a:ext cx="2606040" cy="365760"/>
          </a:xfrm>
          <a:prstGeom prst="rect">
            <a:avLst/>
          </a:prstGeom>
          <a:noFill/>
        </p:spPr>
        <p:txBody>
          <a:bodyPr wrap="square" lIns="45720" rIns="45720" tIns="18288" bIns="18288" anchor="t">
            <a:spAutoFit/>
          </a:bodyPr>
          <a:lstStyle/>
          <a:p>
            <a:pPr algn="l">
              <a:lnSpc>
                <a:spcPct val="115000"/>
              </a:lnSpc>
            </a:pPr>
            <a:r>
              <a:rPr sz="1800" b="1" i="0">
                <a:solidFill>
                  <a:srgbClr val="3B2F1E"/>
                </a:solidFill>
                <a:latin typeface="Garamond"/>
              </a:rPr>
              <a:t>TAP</a:t>
            </a:r>
          </a:p>
        </p:txBody>
      </p:sp>
      <p:sp>
        <p:nvSpPr>
          <p:cNvPr id="21" name="TextBox 20"/>
          <p:cNvSpPr txBox="1"/>
          <p:nvPr/>
        </p:nvSpPr>
        <p:spPr>
          <a:xfrm>
            <a:off x="1318107" y="4206240"/>
            <a:ext cx="2606040" cy="365760"/>
          </a:xfrm>
          <a:prstGeom prst="rect">
            <a:avLst/>
          </a:prstGeom>
          <a:noFill/>
        </p:spPr>
        <p:txBody>
          <a:bodyPr wrap="square" lIns="45720" rIns="45720" tIns="18288" bIns="18288" anchor="t">
            <a:spAutoFit/>
          </a:bodyPr>
          <a:lstStyle/>
          <a:p>
            <a:pPr algn="l">
              <a:lnSpc>
                <a:spcPct val="115000"/>
              </a:lnSpc>
            </a:pPr>
            <a:r>
              <a:rPr sz="1200" b="0" i="0">
                <a:solidFill>
                  <a:srgbClr val="6B5536"/>
                </a:solidFill>
                <a:latin typeface="Calibri"/>
              </a:rPr>
              <a:t>Press key once</a:t>
            </a:r>
          </a:p>
        </p:txBody>
      </p:sp>
      <p:sp>
        <p:nvSpPr>
          <p:cNvPr id="22" name="Rectangle 21"/>
          <p:cNvSpPr/>
          <p:nvPr/>
        </p:nvSpPr>
        <p:spPr>
          <a:xfrm>
            <a:off x="4289907" y="3749040"/>
            <a:ext cx="3611880" cy="868680"/>
          </a:xfrm>
          <a:prstGeom prst="rect">
            <a:avLst/>
          </a:prstGeom>
          <a:solidFill>
            <a:srgbClr val="FAF4E5"/>
          </a:solidFill>
          <a:ln w="25400">
            <a:solidFill>
              <a:srgbClr val="4A8E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787" y="3886200"/>
            <a:ext cx="640080" cy="594360"/>
          </a:xfrm>
          <a:prstGeom prst="rect">
            <a:avLst/>
          </a:prstGeom>
          <a:noFill/>
        </p:spPr>
        <p:txBody>
          <a:bodyPr wrap="square" lIns="45720" rIns="45720" tIns="18288" bIns="18288" anchor="ctr">
            <a:spAutoFit/>
          </a:bodyPr>
          <a:lstStyle/>
          <a:p>
            <a:pPr algn="ctr">
              <a:lnSpc>
                <a:spcPct val="115000"/>
              </a:lnSpc>
            </a:pPr>
            <a:r>
              <a:rPr sz="3200" b="0" i="0">
                <a:solidFill>
                  <a:srgbClr val="4A8EB5"/>
                </a:solidFill>
                <a:latin typeface="Garamond"/>
              </a:rPr>
              <a:t>■</a:t>
            </a:r>
          </a:p>
        </p:txBody>
      </p:sp>
      <p:sp>
        <p:nvSpPr>
          <p:cNvPr id="24" name="TextBox 23"/>
          <p:cNvSpPr txBox="1"/>
          <p:nvPr/>
        </p:nvSpPr>
        <p:spPr>
          <a:xfrm>
            <a:off x="5158587" y="3840480"/>
            <a:ext cx="2606040" cy="365760"/>
          </a:xfrm>
          <a:prstGeom prst="rect">
            <a:avLst/>
          </a:prstGeom>
          <a:noFill/>
        </p:spPr>
        <p:txBody>
          <a:bodyPr wrap="square" lIns="45720" rIns="45720" tIns="18288" bIns="18288" anchor="t">
            <a:spAutoFit/>
          </a:bodyPr>
          <a:lstStyle/>
          <a:p>
            <a:pPr algn="l">
              <a:lnSpc>
                <a:spcPct val="115000"/>
              </a:lnSpc>
            </a:pPr>
            <a:r>
              <a:rPr sz="1800" b="1" i="0">
                <a:solidFill>
                  <a:srgbClr val="3B2F1E"/>
                </a:solidFill>
                <a:latin typeface="Garamond"/>
              </a:rPr>
              <a:t>HOLD</a:t>
            </a:r>
          </a:p>
        </p:txBody>
      </p:sp>
      <p:sp>
        <p:nvSpPr>
          <p:cNvPr id="25" name="TextBox 24"/>
          <p:cNvSpPr txBox="1"/>
          <p:nvPr/>
        </p:nvSpPr>
        <p:spPr>
          <a:xfrm>
            <a:off x="5158587" y="4206240"/>
            <a:ext cx="2606040" cy="365760"/>
          </a:xfrm>
          <a:prstGeom prst="rect">
            <a:avLst/>
          </a:prstGeom>
          <a:noFill/>
        </p:spPr>
        <p:txBody>
          <a:bodyPr wrap="square" lIns="45720" rIns="45720" tIns="18288" bIns="18288" anchor="t">
            <a:spAutoFit/>
          </a:bodyPr>
          <a:lstStyle/>
          <a:p>
            <a:pPr algn="l">
              <a:lnSpc>
                <a:spcPct val="115000"/>
              </a:lnSpc>
            </a:pPr>
            <a:r>
              <a:rPr sz="1200" b="0" i="0">
                <a:solidFill>
                  <a:srgbClr val="6B5536"/>
                </a:solidFill>
                <a:latin typeface="Calibri"/>
              </a:rPr>
              <a:t>Press &amp; hold 0.9s</a:t>
            </a:r>
          </a:p>
        </p:txBody>
      </p:sp>
      <p:sp>
        <p:nvSpPr>
          <p:cNvPr id="26" name="Rectangle 25"/>
          <p:cNvSpPr/>
          <p:nvPr/>
        </p:nvSpPr>
        <p:spPr>
          <a:xfrm>
            <a:off x="8130387" y="3749040"/>
            <a:ext cx="3611880" cy="868680"/>
          </a:xfrm>
          <a:prstGeom prst="rect">
            <a:avLst/>
          </a:prstGeom>
          <a:solidFill>
            <a:srgbClr val="FAF4E5"/>
          </a:solidFill>
          <a:ln w="25400">
            <a:solidFill>
              <a:srgbClr val="C43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13267" y="3886200"/>
            <a:ext cx="640080" cy="594360"/>
          </a:xfrm>
          <a:prstGeom prst="rect">
            <a:avLst/>
          </a:prstGeom>
          <a:noFill/>
        </p:spPr>
        <p:txBody>
          <a:bodyPr wrap="square" lIns="45720" rIns="45720" tIns="18288" bIns="18288" anchor="ctr">
            <a:spAutoFit/>
          </a:bodyPr>
          <a:lstStyle/>
          <a:p>
            <a:pPr algn="ctr">
              <a:lnSpc>
                <a:spcPct val="115000"/>
              </a:lnSpc>
            </a:pPr>
            <a:r>
              <a:rPr sz="3200" b="0" i="0">
                <a:solidFill>
                  <a:srgbClr val="C43B8C"/>
                </a:solidFill>
                <a:latin typeface="Garamond"/>
              </a:rPr>
              <a:t>◆</a:t>
            </a:r>
          </a:p>
        </p:txBody>
      </p:sp>
      <p:sp>
        <p:nvSpPr>
          <p:cNvPr id="28" name="TextBox 27"/>
          <p:cNvSpPr txBox="1"/>
          <p:nvPr/>
        </p:nvSpPr>
        <p:spPr>
          <a:xfrm>
            <a:off x="8999067" y="3840480"/>
            <a:ext cx="2606040" cy="365760"/>
          </a:xfrm>
          <a:prstGeom prst="rect">
            <a:avLst/>
          </a:prstGeom>
          <a:noFill/>
        </p:spPr>
        <p:txBody>
          <a:bodyPr wrap="square" lIns="45720" rIns="45720" tIns="18288" bIns="18288" anchor="t">
            <a:spAutoFit/>
          </a:bodyPr>
          <a:lstStyle/>
          <a:p>
            <a:pPr algn="l">
              <a:lnSpc>
                <a:spcPct val="115000"/>
              </a:lnSpc>
            </a:pPr>
            <a:r>
              <a:rPr sz="1800" b="1" i="0">
                <a:solidFill>
                  <a:srgbClr val="3B2F1E"/>
                </a:solidFill>
                <a:latin typeface="Garamond"/>
              </a:rPr>
              <a:t>ACCENT</a:t>
            </a:r>
          </a:p>
        </p:txBody>
      </p:sp>
      <p:sp>
        <p:nvSpPr>
          <p:cNvPr id="29" name="TextBox 28"/>
          <p:cNvSpPr txBox="1"/>
          <p:nvPr/>
        </p:nvSpPr>
        <p:spPr>
          <a:xfrm>
            <a:off x="8999067" y="4206240"/>
            <a:ext cx="2606040" cy="365760"/>
          </a:xfrm>
          <a:prstGeom prst="rect">
            <a:avLst/>
          </a:prstGeom>
          <a:noFill/>
        </p:spPr>
        <p:txBody>
          <a:bodyPr wrap="square" lIns="45720" rIns="45720" tIns="18288" bIns="18288" anchor="t">
            <a:spAutoFit/>
          </a:bodyPr>
          <a:lstStyle/>
          <a:p>
            <a:pPr algn="l">
              <a:lnSpc>
                <a:spcPct val="115000"/>
              </a:lnSpc>
            </a:pPr>
            <a:r>
              <a:rPr sz="1200" b="0" i="0">
                <a:solidFill>
                  <a:srgbClr val="6B5536"/>
                </a:solidFill>
                <a:latin typeface="Calibri"/>
              </a:rPr>
              <a:t>Press → flick mouse → return</a:t>
            </a:r>
          </a:p>
        </p:txBody>
      </p:sp>
      <p:sp>
        <p:nvSpPr>
          <p:cNvPr id="30" name="Rectangle 29"/>
          <p:cNvSpPr/>
          <p:nvPr/>
        </p:nvSpPr>
        <p:spPr>
          <a:xfrm>
            <a:off x="640080" y="4846320"/>
            <a:ext cx="10911535" cy="77724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919472"/>
            <a:ext cx="10637215" cy="365760"/>
          </a:xfrm>
          <a:prstGeom prst="rect">
            <a:avLst/>
          </a:prstGeom>
          <a:noFill/>
        </p:spPr>
        <p:txBody>
          <a:bodyPr wrap="square" lIns="45720" rIns="45720" tIns="18288" bIns="18288" anchor="t">
            <a:spAutoFit/>
          </a:bodyPr>
          <a:lstStyle/>
          <a:p>
            <a:pPr algn="l">
              <a:lnSpc>
                <a:spcPct val="115000"/>
              </a:lnSpc>
            </a:pPr>
            <a:r>
              <a:rPr sz="1200" b="0" i="0">
                <a:solidFill>
                  <a:srgbClr val="E6C97B"/>
                </a:solidFill>
                <a:latin typeface="Calibri"/>
              </a:rPr>
              <a:t>Procedural path: Catmull-Rom interpolation  ·  Custom arc-length overlap validator (no double-circle re-crossings)</a:t>
            </a:r>
          </a:p>
        </p:txBody>
      </p:sp>
      <p:sp>
        <p:nvSpPr>
          <p:cNvPr id="32" name="TextBox 31"/>
          <p:cNvSpPr txBox="1"/>
          <p:nvPr/>
        </p:nvSpPr>
        <p:spPr>
          <a:xfrm>
            <a:off x="777240" y="5257800"/>
            <a:ext cx="10637215" cy="365760"/>
          </a:xfrm>
          <a:prstGeom prst="rect">
            <a:avLst/>
          </a:prstGeom>
          <a:noFill/>
        </p:spPr>
        <p:txBody>
          <a:bodyPr wrap="square" lIns="45720" rIns="45720" tIns="18288" bIns="18288" anchor="t">
            <a:spAutoFit/>
          </a:bodyPr>
          <a:lstStyle/>
          <a:p>
            <a:pPr algn="l">
              <a:lnSpc>
                <a:spcPct val="115000"/>
              </a:lnSpc>
            </a:pPr>
            <a:r>
              <a:rPr sz="1200" b="1" i="0">
                <a:solidFill>
                  <a:srgbClr val="C9A24A"/>
                </a:solidFill>
                <a:latin typeface="Consolas"/>
              </a:rPr>
              <a:t>Reward multiplier:    A = 1.0×        B = 0.85×        C = 0.7×        F = 0.4×</a:t>
            </a:r>
          </a:p>
        </p:txBody>
      </p:sp>
      <p:sp>
        <p:nvSpPr>
          <p:cNvPr id="33" name="TextBox 32"/>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34" name="TextBox 33"/>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GPT-4o as Judge</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10</a:t>
            </a:r>
          </a:p>
        </p:txBody>
      </p:sp>
      <p:sp>
        <p:nvSpPr>
          <p:cNvPr id="6" name="Rectangle 5"/>
          <p:cNvSpPr/>
          <p:nvPr/>
        </p:nvSpPr>
        <p:spPr>
          <a:xfrm>
            <a:off x="640080" y="1325880"/>
            <a:ext cx="5394960" cy="2468880"/>
          </a:xfrm>
          <a:prstGeom prst="rect">
            <a:avLst/>
          </a:prstGeom>
          <a:solidFill>
            <a:srgbClr val="3B2F1E"/>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463040"/>
            <a:ext cx="5029200" cy="365760"/>
          </a:xfrm>
          <a:prstGeom prst="rect">
            <a:avLst/>
          </a:prstGeom>
          <a:noFill/>
        </p:spPr>
        <p:txBody>
          <a:bodyPr wrap="square" lIns="45720" rIns="45720" tIns="18288" bIns="18288" anchor="t">
            <a:spAutoFit/>
          </a:bodyPr>
          <a:lstStyle/>
          <a:p>
            <a:pPr algn="l">
              <a:lnSpc>
                <a:spcPct val="115000"/>
              </a:lnSpc>
            </a:pPr>
            <a:r>
              <a:rPr sz="1300" b="1" i="1">
                <a:solidFill>
                  <a:srgbClr val="C9A24A"/>
                </a:solidFill>
                <a:latin typeface="Garamond"/>
              </a:rPr>
              <a:t>System prompt (excerpt)</a:t>
            </a:r>
          </a:p>
        </p:txBody>
      </p:sp>
      <p:sp>
        <p:nvSpPr>
          <p:cNvPr id="8" name="TextBox 7"/>
          <p:cNvSpPr txBox="1"/>
          <p:nvPr/>
        </p:nvSpPr>
        <p:spPr>
          <a:xfrm>
            <a:off x="822960" y="1828800"/>
            <a:ext cx="5029200" cy="1828800"/>
          </a:xfrm>
          <a:prstGeom prst="rect">
            <a:avLst/>
          </a:prstGeom>
          <a:noFill/>
        </p:spPr>
        <p:txBody>
          <a:bodyPr wrap="square" lIns="45720" rIns="45720" tIns="18288" bIns="18288" anchor="t">
            <a:spAutoFit/>
          </a:bodyPr>
          <a:lstStyle/>
          <a:p>
            <a:pPr algn="l">
              <a:lnSpc>
                <a:spcPct val="125000"/>
              </a:lnSpc>
            </a:pPr>
            <a:r>
              <a:rPr sz="1100" b="0" i="0">
                <a:solidFill>
                  <a:srgbClr val="E6C97B"/>
                </a:solidFill>
                <a:latin typeface="Consolas"/>
              </a:rPr>
              <a:t>You are a senior wandmaker evaluating wand ↔ customer match.
Understand the tension between TRUE GOAL and CONSTRAINT.
Scoring rules:
  • Addresses request only         →  40–60
  • Addresses true goal            →  60–75
  • True goal + accounts for       
    constraint                     →  75–95
  • Resolves tension creatively    →  90–100
  • Conflicts with constraint      →  20–40</a:t>
            </a:r>
          </a:p>
        </p:txBody>
      </p:sp>
      <p:sp>
        <p:nvSpPr>
          <p:cNvPr id="9" name="Rectangle 8"/>
          <p:cNvSpPr/>
          <p:nvPr/>
        </p:nvSpPr>
        <p:spPr>
          <a:xfrm>
            <a:off x="6156655" y="1325880"/>
            <a:ext cx="5394960" cy="2468880"/>
          </a:xfrm>
          <a:prstGeom prst="rect">
            <a:avLst/>
          </a:prstGeom>
          <a:solidFill>
            <a:srgbClr val="FAF4E5"/>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9535" y="1463040"/>
            <a:ext cx="5029200" cy="365760"/>
          </a:xfrm>
          <a:prstGeom prst="rect">
            <a:avLst/>
          </a:prstGeom>
          <a:noFill/>
        </p:spPr>
        <p:txBody>
          <a:bodyPr wrap="square" lIns="45720" rIns="45720" tIns="18288" bIns="18288" anchor="t">
            <a:spAutoFit/>
          </a:bodyPr>
          <a:lstStyle/>
          <a:p>
            <a:pPr algn="l">
              <a:lnSpc>
                <a:spcPct val="115000"/>
              </a:lnSpc>
            </a:pPr>
            <a:r>
              <a:rPr sz="1300" b="1" i="1">
                <a:solidFill>
                  <a:srgbClr val="3B2F1E"/>
                </a:solidFill>
                <a:latin typeface="Garamond"/>
              </a:rPr>
              <a:t>Sample JSON response</a:t>
            </a:r>
          </a:p>
        </p:txBody>
      </p:sp>
      <p:sp>
        <p:nvSpPr>
          <p:cNvPr id="11" name="TextBox 10"/>
          <p:cNvSpPr txBox="1"/>
          <p:nvPr/>
        </p:nvSpPr>
        <p:spPr>
          <a:xfrm>
            <a:off x="6339535" y="1828800"/>
            <a:ext cx="5029200" cy="1828800"/>
          </a:xfrm>
          <a:prstGeom prst="rect">
            <a:avLst/>
          </a:prstGeom>
          <a:noFill/>
        </p:spPr>
        <p:txBody>
          <a:bodyPr wrap="square" lIns="45720" rIns="45720" tIns="18288" bIns="18288" anchor="t">
            <a:spAutoFit/>
          </a:bodyPr>
          <a:lstStyle/>
          <a:p>
            <a:pPr algn="l">
              <a:lnSpc>
                <a:spcPct val="125000"/>
              </a:lnSpc>
            </a:pPr>
            <a:r>
              <a:rPr sz="1100" b="0" i="0">
                <a:solidFill>
                  <a:srgbClr val="3B2F1E"/>
                </a:solidFill>
                <a:latin typeface="Consolas"/>
              </a:rPr>
              <a:t>{
  "matchScore": 73,
  "verdict": "A thoughtful choice",
  "whatWorked": "The leviathan-scale
                 core caps her overflow",
  "whatMissed": "Doesn't address the
                 emotional distress trigger",
  "customerReaction":
     "This… might actually work."
}</a:t>
            </a:r>
          </a:p>
        </p:txBody>
      </p:sp>
      <p:sp>
        <p:nvSpPr>
          <p:cNvPr id="12" name="TextBox 11"/>
          <p:cNvSpPr txBox="1"/>
          <p:nvPr/>
        </p:nvSpPr>
        <p:spPr>
          <a:xfrm>
            <a:off x="640080" y="4023360"/>
            <a:ext cx="10911535" cy="365760"/>
          </a:xfrm>
          <a:prstGeom prst="rect">
            <a:avLst/>
          </a:prstGeom>
          <a:noFill/>
        </p:spPr>
        <p:txBody>
          <a:bodyPr wrap="square" lIns="45720" rIns="45720" tIns="18288" bIns="18288" anchor="t">
            <a:spAutoFit/>
          </a:bodyPr>
          <a:lstStyle/>
          <a:p>
            <a:pPr algn="ctr">
              <a:lnSpc>
                <a:spcPct val="115000"/>
              </a:lnSpc>
            </a:pPr>
            <a:r>
              <a:rPr sz="1500" b="1" i="0">
                <a:solidFill>
                  <a:srgbClr val="3B2F1E"/>
                </a:solidFill>
                <a:latin typeface="Garamond"/>
              </a:rPr>
              <a:t>Score-band rubric</a:t>
            </a:r>
          </a:p>
        </p:txBody>
      </p:sp>
      <p:sp>
        <p:nvSpPr>
          <p:cNvPr id="13" name="Rectangle 12"/>
          <p:cNvSpPr/>
          <p:nvPr/>
        </p:nvSpPr>
        <p:spPr>
          <a:xfrm>
            <a:off x="640080" y="4434840"/>
            <a:ext cx="2727883" cy="457200"/>
          </a:xfrm>
          <a:prstGeom prst="rect">
            <a:avLst/>
          </a:prstGeom>
          <a:solidFill>
            <a:srgbClr val="6B5536"/>
          </a:solidFill>
          <a:ln w="63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480560"/>
            <a:ext cx="2727883" cy="182880"/>
          </a:xfrm>
          <a:prstGeom prst="rect">
            <a:avLst/>
          </a:prstGeom>
          <a:noFill/>
        </p:spPr>
        <p:txBody>
          <a:bodyPr wrap="square" lIns="45720" rIns="45720" tIns="18288" bIns="18288" anchor="t">
            <a:spAutoFit/>
          </a:bodyPr>
          <a:lstStyle/>
          <a:p>
            <a:pPr algn="ctr">
              <a:lnSpc>
                <a:spcPct val="115000"/>
              </a:lnSpc>
            </a:pPr>
            <a:r>
              <a:rPr sz="1100" b="1" i="0">
                <a:solidFill>
                  <a:srgbClr val="F4ECD8"/>
                </a:solidFill>
                <a:latin typeface="Consolas"/>
              </a:rPr>
              <a:t>40–60</a:t>
            </a:r>
          </a:p>
        </p:txBody>
      </p:sp>
      <p:sp>
        <p:nvSpPr>
          <p:cNvPr id="15" name="TextBox 14"/>
          <p:cNvSpPr txBox="1"/>
          <p:nvPr/>
        </p:nvSpPr>
        <p:spPr>
          <a:xfrm>
            <a:off x="640080" y="4681728"/>
            <a:ext cx="2727883" cy="201168"/>
          </a:xfrm>
          <a:prstGeom prst="rect">
            <a:avLst/>
          </a:prstGeom>
          <a:noFill/>
        </p:spPr>
        <p:txBody>
          <a:bodyPr wrap="square" lIns="45720" rIns="45720" tIns="18288" bIns="18288" anchor="t">
            <a:spAutoFit/>
          </a:bodyPr>
          <a:lstStyle/>
          <a:p>
            <a:pPr algn="ctr">
              <a:lnSpc>
                <a:spcPct val="115000"/>
              </a:lnSpc>
            </a:pPr>
            <a:r>
              <a:rPr sz="1000" b="0" i="0">
                <a:solidFill>
                  <a:srgbClr val="F4ECD8"/>
                </a:solidFill>
                <a:latin typeface="Calibri"/>
              </a:rPr>
              <a:t>Request only</a:t>
            </a:r>
          </a:p>
        </p:txBody>
      </p:sp>
      <p:sp>
        <p:nvSpPr>
          <p:cNvPr id="16" name="Rectangle 15"/>
          <p:cNvSpPr/>
          <p:nvPr/>
        </p:nvSpPr>
        <p:spPr>
          <a:xfrm>
            <a:off x="3367963" y="4434840"/>
            <a:ext cx="2727883" cy="457200"/>
          </a:xfrm>
          <a:prstGeom prst="rect">
            <a:avLst/>
          </a:prstGeom>
          <a:solidFill>
            <a:srgbClr val="2E4A6E"/>
          </a:solidFill>
          <a:ln w="63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7963" y="4480560"/>
            <a:ext cx="2727883" cy="182880"/>
          </a:xfrm>
          <a:prstGeom prst="rect">
            <a:avLst/>
          </a:prstGeom>
          <a:noFill/>
        </p:spPr>
        <p:txBody>
          <a:bodyPr wrap="square" lIns="45720" rIns="45720" tIns="18288" bIns="18288" anchor="t">
            <a:spAutoFit/>
          </a:bodyPr>
          <a:lstStyle/>
          <a:p>
            <a:pPr algn="ctr">
              <a:lnSpc>
                <a:spcPct val="115000"/>
              </a:lnSpc>
            </a:pPr>
            <a:r>
              <a:rPr sz="1100" b="1" i="0">
                <a:solidFill>
                  <a:srgbClr val="F4ECD8"/>
                </a:solidFill>
                <a:latin typeface="Consolas"/>
              </a:rPr>
              <a:t>60–75</a:t>
            </a:r>
          </a:p>
        </p:txBody>
      </p:sp>
      <p:sp>
        <p:nvSpPr>
          <p:cNvPr id="18" name="TextBox 17"/>
          <p:cNvSpPr txBox="1"/>
          <p:nvPr/>
        </p:nvSpPr>
        <p:spPr>
          <a:xfrm>
            <a:off x="3367963" y="4681728"/>
            <a:ext cx="2727883" cy="201168"/>
          </a:xfrm>
          <a:prstGeom prst="rect">
            <a:avLst/>
          </a:prstGeom>
          <a:noFill/>
        </p:spPr>
        <p:txBody>
          <a:bodyPr wrap="square" lIns="45720" rIns="45720" tIns="18288" bIns="18288" anchor="t">
            <a:spAutoFit/>
          </a:bodyPr>
          <a:lstStyle/>
          <a:p>
            <a:pPr algn="ctr">
              <a:lnSpc>
                <a:spcPct val="115000"/>
              </a:lnSpc>
            </a:pPr>
            <a:r>
              <a:rPr sz="1000" b="0" i="0">
                <a:solidFill>
                  <a:srgbClr val="F4ECD8"/>
                </a:solidFill>
                <a:latin typeface="Calibri"/>
              </a:rPr>
              <a:t>True goal addressed</a:t>
            </a:r>
          </a:p>
        </p:txBody>
      </p:sp>
      <p:sp>
        <p:nvSpPr>
          <p:cNvPr id="19" name="Rectangle 18"/>
          <p:cNvSpPr/>
          <p:nvPr/>
        </p:nvSpPr>
        <p:spPr>
          <a:xfrm>
            <a:off x="6095847" y="4434840"/>
            <a:ext cx="2727883" cy="457200"/>
          </a:xfrm>
          <a:prstGeom prst="rect">
            <a:avLst/>
          </a:prstGeom>
          <a:solidFill>
            <a:srgbClr val="2E6E4A"/>
          </a:solidFill>
          <a:ln w="63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4480560"/>
            <a:ext cx="2727883" cy="182880"/>
          </a:xfrm>
          <a:prstGeom prst="rect">
            <a:avLst/>
          </a:prstGeom>
          <a:noFill/>
        </p:spPr>
        <p:txBody>
          <a:bodyPr wrap="square" lIns="45720" rIns="45720" tIns="18288" bIns="18288" anchor="t">
            <a:spAutoFit/>
          </a:bodyPr>
          <a:lstStyle/>
          <a:p>
            <a:pPr algn="ctr">
              <a:lnSpc>
                <a:spcPct val="115000"/>
              </a:lnSpc>
            </a:pPr>
            <a:r>
              <a:rPr sz="1100" b="1" i="0">
                <a:solidFill>
                  <a:srgbClr val="F4ECD8"/>
                </a:solidFill>
                <a:latin typeface="Consolas"/>
              </a:rPr>
              <a:t>75–95</a:t>
            </a:r>
          </a:p>
        </p:txBody>
      </p:sp>
      <p:sp>
        <p:nvSpPr>
          <p:cNvPr id="21" name="TextBox 20"/>
          <p:cNvSpPr txBox="1"/>
          <p:nvPr/>
        </p:nvSpPr>
        <p:spPr>
          <a:xfrm>
            <a:off x="6095847" y="4681728"/>
            <a:ext cx="2727883" cy="201168"/>
          </a:xfrm>
          <a:prstGeom prst="rect">
            <a:avLst/>
          </a:prstGeom>
          <a:noFill/>
        </p:spPr>
        <p:txBody>
          <a:bodyPr wrap="square" lIns="45720" rIns="45720" tIns="18288" bIns="18288" anchor="t">
            <a:spAutoFit/>
          </a:bodyPr>
          <a:lstStyle/>
          <a:p>
            <a:pPr algn="ctr">
              <a:lnSpc>
                <a:spcPct val="115000"/>
              </a:lnSpc>
            </a:pPr>
            <a:r>
              <a:rPr sz="1000" b="0" i="0">
                <a:solidFill>
                  <a:srgbClr val="F4ECD8"/>
                </a:solidFill>
                <a:latin typeface="Calibri"/>
              </a:rPr>
              <a:t>+ Accounts for constraint</a:t>
            </a:r>
          </a:p>
        </p:txBody>
      </p:sp>
      <p:sp>
        <p:nvSpPr>
          <p:cNvPr id="22" name="Rectangle 21"/>
          <p:cNvSpPr/>
          <p:nvPr/>
        </p:nvSpPr>
        <p:spPr>
          <a:xfrm>
            <a:off x="8823731" y="4434840"/>
            <a:ext cx="2727883" cy="457200"/>
          </a:xfrm>
          <a:prstGeom prst="rect">
            <a:avLst/>
          </a:prstGeom>
          <a:solidFill>
            <a:srgbClr val="C9A24A"/>
          </a:solidFill>
          <a:ln w="6350">
            <a:solidFill>
              <a:srgbClr val="3B2F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23731" y="4480560"/>
            <a:ext cx="2727883" cy="182880"/>
          </a:xfrm>
          <a:prstGeom prst="rect">
            <a:avLst/>
          </a:prstGeom>
          <a:noFill/>
        </p:spPr>
        <p:txBody>
          <a:bodyPr wrap="square" lIns="45720" rIns="45720" tIns="18288" bIns="18288" anchor="t">
            <a:spAutoFit/>
          </a:bodyPr>
          <a:lstStyle/>
          <a:p>
            <a:pPr algn="ctr">
              <a:lnSpc>
                <a:spcPct val="115000"/>
              </a:lnSpc>
            </a:pPr>
            <a:r>
              <a:rPr sz="1100" b="1" i="0">
                <a:solidFill>
                  <a:srgbClr val="F4ECD8"/>
                </a:solidFill>
                <a:latin typeface="Consolas"/>
              </a:rPr>
              <a:t>90–100</a:t>
            </a:r>
          </a:p>
        </p:txBody>
      </p:sp>
      <p:sp>
        <p:nvSpPr>
          <p:cNvPr id="24" name="TextBox 23"/>
          <p:cNvSpPr txBox="1"/>
          <p:nvPr/>
        </p:nvSpPr>
        <p:spPr>
          <a:xfrm>
            <a:off x="8823731" y="4681728"/>
            <a:ext cx="2727883" cy="201168"/>
          </a:xfrm>
          <a:prstGeom prst="rect">
            <a:avLst/>
          </a:prstGeom>
          <a:noFill/>
        </p:spPr>
        <p:txBody>
          <a:bodyPr wrap="square" lIns="45720" rIns="45720" tIns="18288" bIns="18288" anchor="t">
            <a:spAutoFit/>
          </a:bodyPr>
          <a:lstStyle/>
          <a:p>
            <a:pPr algn="ctr">
              <a:lnSpc>
                <a:spcPct val="115000"/>
              </a:lnSpc>
            </a:pPr>
            <a:r>
              <a:rPr sz="1000" b="0" i="0">
                <a:solidFill>
                  <a:srgbClr val="F4ECD8"/>
                </a:solidFill>
                <a:latin typeface="Calibri"/>
              </a:rPr>
              <a:t>+ Resolves tension</a:t>
            </a:r>
          </a:p>
        </p:txBody>
      </p:sp>
      <p:sp>
        <p:nvSpPr>
          <p:cNvPr id="25" name="Rectangle 24"/>
          <p:cNvSpPr/>
          <p:nvPr/>
        </p:nvSpPr>
        <p:spPr>
          <a:xfrm>
            <a:off x="640080" y="5074920"/>
            <a:ext cx="10911535" cy="502920"/>
          </a:xfrm>
          <a:prstGeom prst="rect">
            <a:avLst/>
          </a:prstGeom>
          <a:solidFill>
            <a:srgbClr val="E6C97B"/>
          </a:solidFill>
          <a:ln w="127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166360"/>
            <a:ext cx="10911535" cy="365760"/>
          </a:xfrm>
          <a:prstGeom prst="rect">
            <a:avLst/>
          </a:prstGeom>
          <a:noFill/>
        </p:spPr>
        <p:txBody>
          <a:bodyPr wrap="square" lIns="45720" rIns="45720" tIns="18288" bIns="18288" anchor="ctr">
            <a:spAutoFit/>
          </a:bodyPr>
          <a:lstStyle/>
          <a:p>
            <a:pPr algn="ctr">
              <a:lnSpc>
                <a:spcPct val="115000"/>
              </a:lnSpc>
            </a:pPr>
            <a:r>
              <a:rPr sz="1300" b="1" i="0">
                <a:solidFill>
                  <a:srgbClr val="3B2F1E"/>
                </a:solidFill>
                <a:latin typeface="Consolas"/>
              </a:rPr>
              <a:t>gold = 150 × (matchScore / 100) × qualityMultiplier        score &lt; 40 → −10 reputation</a:t>
            </a:r>
          </a:p>
        </p:txBody>
      </p:sp>
      <p:sp>
        <p:nvSpPr>
          <p:cNvPr id="27" name="TextBox 26"/>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28" name="TextBox 27"/>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1277295" cy="640080"/>
          </a:xfrm>
          <a:prstGeom prst="rect">
            <a:avLst/>
          </a:prstGeom>
          <a:noFill/>
        </p:spPr>
        <p:txBody>
          <a:bodyPr wrap="square" lIns="45720" rIns="45720" tIns="18288" bIns="18288" anchor="t">
            <a:spAutoFit/>
          </a:bodyPr>
          <a:lstStyle/>
          <a:p>
            <a:pPr algn="ctr">
              <a:lnSpc>
                <a:spcPct val="115000"/>
              </a:lnSpc>
            </a:pPr>
            <a:r>
              <a:rPr sz="4400" b="1" i="0">
                <a:solidFill>
                  <a:srgbClr val="C9A24A"/>
                </a:solidFill>
                <a:latin typeface="Garamond"/>
              </a:rPr>
              <a:t>LIVE DEMO</a:t>
            </a:r>
          </a:p>
        </p:txBody>
      </p:sp>
      <p:sp>
        <p:nvSpPr>
          <p:cNvPr id="4" name="Rectangle 3"/>
          <p:cNvSpPr/>
          <p:nvPr/>
        </p:nvSpPr>
        <p:spPr>
          <a:xfrm>
            <a:off x="1371600" y="1371600"/>
            <a:ext cx="9448495" cy="4114800"/>
          </a:xfrm>
          <a:prstGeom prst="rect">
            <a:avLst/>
          </a:prstGeom>
          <a:solidFill>
            <a:srgbClr val="F4ECD8"/>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063240"/>
            <a:ext cx="9448495" cy="365760"/>
          </a:xfrm>
          <a:prstGeom prst="rect">
            <a:avLst/>
          </a:prstGeom>
          <a:noFill/>
        </p:spPr>
        <p:txBody>
          <a:bodyPr wrap="square" lIns="45720" rIns="45720" tIns="18288" bIns="18288" anchor="t">
            <a:spAutoFit/>
          </a:bodyPr>
          <a:lstStyle/>
          <a:p>
            <a:pPr algn="ctr">
              <a:lnSpc>
                <a:spcPct val="115000"/>
              </a:lnSpc>
            </a:pPr>
            <a:r>
              <a:rPr sz="1400" b="1" i="0">
                <a:solidFill>
                  <a:srgbClr val="6B5536"/>
                </a:solidFill>
                <a:latin typeface="Calibri"/>
              </a:rPr>
              <a:t>[ DEMO  /  90-sec screen capture ]</a:t>
            </a:r>
          </a:p>
        </p:txBody>
      </p:sp>
      <p:sp>
        <p:nvSpPr>
          <p:cNvPr id="6" name="TextBox 5"/>
          <p:cNvSpPr txBox="1"/>
          <p:nvPr/>
        </p:nvSpPr>
        <p:spPr>
          <a:xfrm>
            <a:off x="1371600" y="3474720"/>
            <a:ext cx="9448495" cy="365760"/>
          </a:xfrm>
          <a:prstGeom prst="rect">
            <a:avLst/>
          </a:prstGeom>
          <a:noFill/>
        </p:spPr>
        <p:txBody>
          <a:bodyPr wrap="square" lIns="45720" rIns="45720" tIns="18288" bIns="18288" anchor="t">
            <a:spAutoFit/>
          </a:bodyPr>
          <a:lstStyle/>
          <a:p>
            <a:pPr algn="ctr">
              <a:lnSpc>
                <a:spcPct val="115000"/>
              </a:lnSpc>
            </a:pPr>
            <a:r>
              <a:rPr sz="1000" b="0" i="1">
                <a:solidFill>
                  <a:srgbClr val="6B5536"/>
                </a:solidFill>
                <a:latin typeface="Calibri"/>
              </a:rPr>
              <a:t>full round: morning letter → dossier → memo → market → crafting → tracing → evaluation reveal</a:t>
            </a:r>
          </a:p>
        </p:txBody>
      </p:sp>
      <p:sp>
        <p:nvSpPr>
          <p:cNvPr id="7" name="TextBox 6"/>
          <p:cNvSpPr txBox="1"/>
          <p:nvPr/>
        </p:nvSpPr>
        <p:spPr>
          <a:xfrm>
            <a:off x="640080" y="5577840"/>
            <a:ext cx="10911535" cy="365760"/>
          </a:xfrm>
          <a:prstGeom prst="rect">
            <a:avLst/>
          </a:prstGeom>
          <a:noFill/>
        </p:spPr>
        <p:txBody>
          <a:bodyPr wrap="square" lIns="45720" rIns="45720" tIns="18288" bIns="18288" anchor="t">
            <a:spAutoFit/>
          </a:bodyPr>
          <a:lstStyle/>
          <a:p>
            <a:pPr algn="ctr">
              <a:lnSpc>
                <a:spcPct val="115000"/>
              </a:lnSpc>
            </a:pPr>
            <a:r>
              <a:rPr sz="1400" b="1" i="1">
                <a:solidFill>
                  <a:srgbClr val="E6C97B"/>
                </a:solidFill>
                <a:latin typeface="Garamond"/>
              </a:rPr>
              <a:t>Demo path</a:t>
            </a:r>
          </a:p>
        </p:txBody>
      </p:sp>
      <p:sp>
        <p:nvSpPr>
          <p:cNvPr id="8" name="TextBox 7"/>
          <p:cNvSpPr txBox="1"/>
          <p:nvPr/>
        </p:nvSpPr>
        <p:spPr>
          <a:xfrm>
            <a:off x="640080"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Morning letter</a:t>
            </a:r>
          </a:p>
        </p:txBody>
      </p:sp>
      <p:sp>
        <p:nvSpPr>
          <p:cNvPr id="9" name="TextBox 8"/>
          <p:cNvSpPr txBox="1"/>
          <p:nvPr/>
        </p:nvSpPr>
        <p:spPr>
          <a:xfrm>
            <a:off x="2061710"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10" name="TextBox 9"/>
          <p:cNvSpPr txBox="1"/>
          <p:nvPr/>
        </p:nvSpPr>
        <p:spPr>
          <a:xfrm>
            <a:off x="2198870"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Dossier</a:t>
            </a:r>
          </a:p>
        </p:txBody>
      </p:sp>
      <p:sp>
        <p:nvSpPr>
          <p:cNvPr id="11" name="TextBox 10"/>
          <p:cNvSpPr txBox="1"/>
          <p:nvPr/>
        </p:nvSpPr>
        <p:spPr>
          <a:xfrm>
            <a:off x="3620501"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12" name="TextBox 11"/>
          <p:cNvSpPr txBox="1"/>
          <p:nvPr/>
        </p:nvSpPr>
        <p:spPr>
          <a:xfrm>
            <a:off x="3757661"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Memo</a:t>
            </a:r>
          </a:p>
        </p:txBody>
      </p:sp>
      <p:sp>
        <p:nvSpPr>
          <p:cNvPr id="13" name="TextBox 12"/>
          <p:cNvSpPr txBox="1"/>
          <p:nvPr/>
        </p:nvSpPr>
        <p:spPr>
          <a:xfrm>
            <a:off x="5179292"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14" name="TextBox 13"/>
          <p:cNvSpPr txBox="1"/>
          <p:nvPr/>
        </p:nvSpPr>
        <p:spPr>
          <a:xfrm>
            <a:off x="5316452"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Market</a:t>
            </a:r>
          </a:p>
        </p:txBody>
      </p:sp>
      <p:sp>
        <p:nvSpPr>
          <p:cNvPr id="15" name="TextBox 14"/>
          <p:cNvSpPr txBox="1"/>
          <p:nvPr/>
        </p:nvSpPr>
        <p:spPr>
          <a:xfrm>
            <a:off x="6738082"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16" name="TextBox 15"/>
          <p:cNvSpPr txBox="1"/>
          <p:nvPr/>
        </p:nvSpPr>
        <p:spPr>
          <a:xfrm>
            <a:off x="6875242"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Crafting</a:t>
            </a:r>
          </a:p>
        </p:txBody>
      </p:sp>
      <p:sp>
        <p:nvSpPr>
          <p:cNvPr id="17" name="TextBox 16"/>
          <p:cNvSpPr txBox="1"/>
          <p:nvPr/>
        </p:nvSpPr>
        <p:spPr>
          <a:xfrm>
            <a:off x="8296873"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18" name="TextBox 17"/>
          <p:cNvSpPr txBox="1"/>
          <p:nvPr/>
        </p:nvSpPr>
        <p:spPr>
          <a:xfrm>
            <a:off x="8434033"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Tracing</a:t>
            </a:r>
          </a:p>
        </p:txBody>
      </p:sp>
      <p:sp>
        <p:nvSpPr>
          <p:cNvPr id="19" name="TextBox 18"/>
          <p:cNvSpPr txBox="1"/>
          <p:nvPr/>
        </p:nvSpPr>
        <p:spPr>
          <a:xfrm>
            <a:off x="9855664" y="5943600"/>
            <a:ext cx="274320" cy="365760"/>
          </a:xfrm>
          <a:prstGeom prst="rect">
            <a:avLst/>
          </a:prstGeom>
          <a:noFill/>
        </p:spPr>
        <p:txBody>
          <a:bodyPr wrap="square" lIns="45720" rIns="45720" tIns="18288" bIns="18288" anchor="t">
            <a:spAutoFit/>
          </a:bodyPr>
          <a:lstStyle/>
          <a:p>
            <a:pPr algn="ctr">
              <a:lnSpc>
                <a:spcPct val="115000"/>
              </a:lnSpc>
            </a:pPr>
            <a:r>
              <a:rPr sz="1400" b="1" i="0">
                <a:solidFill>
                  <a:srgbClr val="C9A24A"/>
                </a:solidFill>
                <a:latin typeface="Garamond"/>
              </a:rPr>
              <a:t>›</a:t>
            </a:r>
          </a:p>
        </p:txBody>
      </p:sp>
      <p:sp>
        <p:nvSpPr>
          <p:cNvPr id="20" name="TextBox 19"/>
          <p:cNvSpPr txBox="1"/>
          <p:nvPr/>
        </p:nvSpPr>
        <p:spPr>
          <a:xfrm>
            <a:off x="9992824" y="5943600"/>
            <a:ext cx="1558790" cy="365760"/>
          </a:xfrm>
          <a:prstGeom prst="rect">
            <a:avLst/>
          </a:prstGeom>
          <a:noFill/>
        </p:spPr>
        <p:txBody>
          <a:bodyPr wrap="square" lIns="45720" rIns="45720" tIns="18288" bIns="18288" anchor="t">
            <a:spAutoFit/>
          </a:bodyPr>
          <a:lstStyle/>
          <a:p>
            <a:pPr algn="ctr">
              <a:lnSpc>
                <a:spcPct val="115000"/>
              </a:lnSpc>
            </a:pPr>
            <a:r>
              <a:rPr sz="1100" b="0" i="0">
                <a:solidFill>
                  <a:srgbClr val="E6C97B"/>
                </a:solidFill>
                <a:latin typeface="Calibri"/>
              </a:rPr>
              <a:t>Evaluation</a:t>
            </a:r>
          </a:p>
        </p:txBody>
      </p:sp>
      <p:sp>
        <p:nvSpPr>
          <p:cNvPr id="21" name="TextBox 20"/>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22" name="TextBox 21"/>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Results &amp; Critique</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12</a:t>
            </a:r>
          </a:p>
        </p:txBody>
      </p:sp>
      <p:sp>
        <p:nvSpPr>
          <p:cNvPr id="6" name="Rectangle 5"/>
          <p:cNvSpPr/>
          <p:nvPr/>
        </p:nvSpPr>
        <p:spPr>
          <a:xfrm>
            <a:off x="640080" y="1325880"/>
            <a:ext cx="5318607" cy="2331720"/>
          </a:xfrm>
          <a:prstGeom prst="rect">
            <a:avLst/>
          </a:prstGeom>
          <a:solidFill>
            <a:srgbClr val="FAF4E5"/>
          </a:solidFill>
          <a:ln w="25400">
            <a:solidFill>
              <a:srgbClr val="2E6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4861407" cy="365760"/>
          </a:xfrm>
          <a:prstGeom prst="rect">
            <a:avLst/>
          </a:prstGeom>
          <a:noFill/>
        </p:spPr>
        <p:txBody>
          <a:bodyPr wrap="square" lIns="45720" rIns="45720" tIns="18288" bIns="18288" anchor="t">
            <a:spAutoFit/>
          </a:bodyPr>
          <a:lstStyle/>
          <a:p>
            <a:pPr algn="l">
              <a:lnSpc>
                <a:spcPct val="115000"/>
              </a:lnSpc>
            </a:pPr>
            <a:r>
              <a:rPr sz="1400" b="1" i="0">
                <a:solidFill>
                  <a:srgbClr val="2E6E4A"/>
                </a:solidFill>
                <a:latin typeface="Garamond"/>
              </a:rPr>
              <a:t>QUANTITATIVE</a:t>
            </a:r>
          </a:p>
        </p:txBody>
      </p:sp>
      <p:sp>
        <p:nvSpPr>
          <p:cNvPr id="8" name="TextBox 7"/>
          <p:cNvSpPr txBox="1"/>
          <p:nvPr/>
        </p:nvSpPr>
        <p:spPr>
          <a:xfrm>
            <a:off x="1005840" y="1874520"/>
            <a:ext cx="4678527" cy="1691640"/>
          </a:xfrm>
          <a:prstGeom prst="rect">
            <a:avLst/>
          </a:prstGeom>
          <a:noFill/>
        </p:spPr>
        <p:txBody>
          <a:bodyPr wrap="square" lIns="45720" rIns="45720" tIns="18288" bIns="18288" anchor="t">
            <a:spAutoFit/>
          </a:bodyPr>
          <a:lstStyle/>
          <a:p>
            <a:pPr algn="l">
              <a:lnSpc>
                <a:spcPct val="150000"/>
              </a:lnSpc>
            </a:pPr>
            <a:r>
              <a:rPr sz="1300" b="1" i="0">
                <a:solidFill>
                  <a:srgbClr val="C9A24A"/>
                </a:solidFill>
                <a:latin typeface="Calibri"/>
              </a:rPr>
              <a:t>▸  </a:t>
            </a:r>
            <a:r>
              <a:rPr sz="1300" b="0" i="0">
                <a:solidFill>
                  <a:srgbClr val="3B2F1E"/>
                </a:solidFill>
                <a:latin typeface="Calibri"/>
              </a:rPr>
              <a:t>~8,700 LoC  ·  60 FPS @ 1080p</a:t>
            </a:r>
          </a:p>
          <a:p>
            <a:pPr algn="l">
              <a:lnSpc>
                <a:spcPct val="150000"/>
              </a:lnSpc>
            </a:pPr>
            <a:r>
              <a:rPr sz="1300" b="1" i="0">
                <a:solidFill>
                  <a:srgbClr val="C9A24A"/>
                </a:solidFill>
                <a:latin typeface="Calibri"/>
              </a:rPr>
              <a:t>▸  </a:t>
            </a:r>
            <a:r>
              <a:rPr sz="1300" b="0" i="0">
                <a:solidFill>
                  <a:srgbClr val="3B2F1E"/>
                </a:solidFill>
                <a:latin typeface="Calibri"/>
              </a:rPr>
              <a:t>GPT-4o latency: 4–7s avg</a:t>
            </a:r>
          </a:p>
          <a:p>
            <a:pPr algn="l">
              <a:lnSpc>
                <a:spcPct val="150000"/>
              </a:lnSpc>
            </a:pPr>
            <a:r>
              <a:rPr sz="1300" b="1" i="0">
                <a:solidFill>
                  <a:srgbClr val="C9A24A"/>
                </a:solidFill>
                <a:latin typeface="Calibri"/>
              </a:rPr>
              <a:t>▸  </a:t>
            </a:r>
            <a:r>
              <a:rPr sz="1300" b="0" i="0">
                <a:solidFill>
                  <a:srgbClr val="3B2F1E"/>
                </a:solidFill>
                <a:latin typeface="Calibri"/>
              </a:rPr>
              <a:t>ComfyUI image latency: 8–12s avg</a:t>
            </a:r>
          </a:p>
          <a:p>
            <a:pPr algn="l">
              <a:lnSpc>
                <a:spcPct val="150000"/>
              </a:lnSpc>
            </a:pPr>
            <a:r>
              <a:rPr sz="1300" b="1" i="0">
                <a:solidFill>
                  <a:srgbClr val="C9A24A"/>
                </a:solidFill>
                <a:latin typeface="Calibri"/>
              </a:rPr>
              <a:t>▸  </a:t>
            </a:r>
            <a:r>
              <a:rPr sz="1300" b="0" i="0">
                <a:solidFill>
                  <a:srgbClr val="3B2F1E"/>
                </a:solidFill>
                <a:latin typeface="Calibri"/>
              </a:rPr>
              <a:t>Parallel execution hides ~70% of generation time</a:t>
            </a:r>
          </a:p>
        </p:txBody>
      </p:sp>
      <p:sp>
        <p:nvSpPr>
          <p:cNvPr id="9" name="Rectangle 8"/>
          <p:cNvSpPr/>
          <p:nvPr/>
        </p:nvSpPr>
        <p:spPr>
          <a:xfrm>
            <a:off x="6233007" y="1325880"/>
            <a:ext cx="5318607" cy="2331720"/>
          </a:xfrm>
          <a:prstGeom prst="rect">
            <a:avLst/>
          </a:prstGeom>
          <a:solidFill>
            <a:srgbClr val="FAF4E5"/>
          </a:solidFill>
          <a:ln w="25400">
            <a:solidFill>
              <a:srgbClr val="2E4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1607" y="1463040"/>
            <a:ext cx="4861407" cy="365760"/>
          </a:xfrm>
          <a:prstGeom prst="rect">
            <a:avLst/>
          </a:prstGeom>
          <a:noFill/>
        </p:spPr>
        <p:txBody>
          <a:bodyPr wrap="square" lIns="45720" rIns="45720" tIns="18288" bIns="18288" anchor="t">
            <a:spAutoFit/>
          </a:bodyPr>
          <a:lstStyle/>
          <a:p>
            <a:pPr algn="l">
              <a:lnSpc>
                <a:spcPct val="115000"/>
              </a:lnSpc>
            </a:pPr>
            <a:r>
              <a:rPr sz="1400" b="1" i="0">
                <a:solidFill>
                  <a:srgbClr val="2E4A6E"/>
                </a:solidFill>
                <a:latin typeface="Garamond"/>
              </a:rPr>
              <a:t>QUALITATIVE  ·  playtester quotes</a:t>
            </a:r>
          </a:p>
        </p:txBody>
      </p:sp>
      <p:sp>
        <p:nvSpPr>
          <p:cNvPr id="11" name="TextBox 10"/>
          <p:cNvSpPr txBox="1"/>
          <p:nvPr/>
        </p:nvSpPr>
        <p:spPr>
          <a:xfrm>
            <a:off x="6598767" y="1874520"/>
            <a:ext cx="4678527" cy="1691640"/>
          </a:xfrm>
          <a:prstGeom prst="rect">
            <a:avLst/>
          </a:prstGeom>
          <a:noFill/>
        </p:spPr>
        <p:txBody>
          <a:bodyPr wrap="square" lIns="45720" rIns="45720" tIns="18288" bIns="18288" anchor="t">
            <a:spAutoFit/>
          </a:bodyPr>
          <a:lstStyle/>
          <a:p>
            <a:pPr algn="l">
              <a:lnSpc>
                <a:spcPct val="140000"/>
              </a:lnSpc>
            </a:pPr>
            <a:r>
              <a:rPr sz="1400" b="0" i="1">
                <a:solidFill>
                  <a:srgbClr val="3B2F1E"/>
                </a:solidFill>
                <a:latin typeface="Calibri"/>
              </a:rPr>
              <a:t>“Feels like reading a real letter.”
</a:t>
            </a:r>
            <a:r>
              <a:rPr sz="1100" b="0" i="0">
                <a:solidFill>
                  <a:srgbClr val="6B5536"/>
                </a:solidFill>
                <a:latin typeface="Calibri"/>
              </a:rPr>
              <a:t>— Memo loop</a:t>
            </a:r>
          </a:p>
          <a:p>
            <a:pPr algn="l">
              <a:lnSpc>
                <a:spcPct val="140000"/>
              </a:lnSpc>
            </a:pPr>
            <a:r>
              <a:rPr sz="800" b="0" i="0">
                <a:solidFill>
                  <a:srgbClr val="3B2F1E"/>
                </a:solidFill>
                <a:latin typeface="Calibri"/>
              </a:rPr>
              <a:t>
</a:t>
            </a:r>
          </a:p>
          <a:p>
            <a:pPr algn="l">
              <a:lnSpc>
                <a:spcPct val="140000"/>
              </a:lnSpc>
            </a:pPr>
            <a:r>
              <a:rPr sz="1400" b="0" i="1">
                <a:solidFill>
                  <a:srgbClr val="3B2F1E"/>
                </a:solidFill>
                <a:latin typeface="Calibri"/>
              </a:rPr>
              <a:t>“The mist never letting up was stressful in a good way.”
</a:t>
            </a:r>
            <a:r>
              <a:rPr sz="1100" b="0" i="0">
                <a:solidFill>
                  <a:srgbClr val="6B5536"/>
                </a:solidFill>
                <a:latin typeface="Calibri"/>
              </a:rPr>
              <a:t>— Hold gates</a:t>
            </a:r>
          </a:p>
        </p:txBody>
      </p:sp>
      <p:sp>
        <p:nvSpPr>
          <p:cNvPr id="12" name="Rectangle 11"/>
          <p:cNvSpPr/>
          <p:nvPr/>
        </p:nvSpPr>
        <p:spPr>
          <a:xfrm>
            <a:off x="640080" y="3840480"/>
            <a:ext cx="5318607" cy="2331720"/>
          </a:xfrm>
          <a:prstGeom prst="rect">
            <a:avLst/>
          </a:prstGeom>
          <a:solidFill>
            <a:srgbClr val="FAF4E5"/>
          </a:solidFill>
          <a:ln w="25400">
            <a:solidFill>
              <a:srgbClr val="8B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977640"/>
            <a:ext cx="4861407" cy="365760"/>
          </a:xfrm>
          <a:prstGeom prst="rect">
            <a:avLst/>
          </a:prstGeom>
          <a:noFill/>
        </p:spPr>
        <p:txBody>
          <a:bodyPr wrap="square" lIns="45720" rIns="45720" tIns="18288" bIns="18288" anchor="t">
            <a:spAutoFit/>
          </a:bodyPr>
          <a:lstStyle/>
          <a:p>
            <a:pPr algn="l">
              <a:lnSpc>
                <a:spcPct val="115000"/>
              </a:lnSpc>
            </a:pPr>
            <a:r>
              <a:rPr sz="1400" b="1" i="0">
                <a:solidFill>
                  <a:srgbClr val="8B2E2E"/>
                </a:solidFill>
                <a:latin typeface="Garamond"/>
              </a:rPr>
              <a:t>LIMITATIONS</a:t>
            </a:r>
          </a:p>
        </p:txBody>
      </p:sp>
      <p:sp>
        <p:nvSpPr>
          <p:cNvPr id="14" name="TextBox 13"/>
          <p:cNvSpPr txBox="1"/>
          <p:nvPr/>
        </p:nvSpPr>
        <p:spPr>
          <a:xfrm>
            <a:off x="1005840" y="4389120"/>
            <a:ext cx="4678527" cy="1691640"/>
          </a:xfrm>
          <a:prstGeom prst="rect">
            <a:avLst/>
          </a:prstGeom>
          <a:noFill/>
        </p:spPr>
        <p:txBody>
          <a:bodyPr wrap="square" lIns="45720" rIns="45720" tIns="18288" bIns="18288" anchor="t">
            <a:spAutoFit/>
          </a:bodyPr>
          <a:lstStyle/>
          <a:p>
            <a:pPr algn="l">
              <a:lnSpc>
                <a:spcPct val="150000"/>
              </a:lnSpc>
            </a:pPr>
            <a:r>
              <a:rPr sz="1300" b="1" i="0">
                <a:solidFill>
                  <a:srgbClr val="8B2E2E"/>
                </a:solidFill>
                <a:latin typeface="Calibri"/>
              </a:rPr>
              <a:t>▸  </a:t>
            </a:r>
            <a:r>
              <a:rPr sz="1300" b="0" i="0">
                <a:solidFill>
                  <a:srgbClr val="3B2F1E"/>
                </a:solidFill>
                <a:latin typeface="Calibri"/>
              </a:rPr>
              <a:t>API cost ~$0.04/round</a:t>
            </a:r>
          </a:p>
          <a:p>
            <a:pPr algn="l">
              <a:lnSpc>
                <a:spcPct val="150000"/>
              </a:lnSpc>
            </a:pPr>
            <a:r>
              <a:rPr sz="1300" b="1" i="0">
                <a:solidFill>
                  <a:srgbClr val="8B2E2E"/>
                </a:solidFill>
                <a:latin typeface="Calibri"/>
              </a:rPr>
              <a:t>▸  </a:t>
            </a:r>
            <a:r>
              <a:rPr sz="1300" b="0" i="0">
                <a:solidFill>
                  <a:srgbClr val="3B2F1E"/>
                </a:solidFill>
                <a:latin typeface="Calibri"/>
              </a:rPr>
              <a:t>GPT verdicts ±10 points across runs (non-determinism)</a:t>
            </a:r>
          </a:p>
          <a:p>
            <a:pPr algn="l">
              <a:lnSpc>
                <a:spcPct val="150000"/>
              </a:lnSpc>
            </a:pPr>
            <a:r>
              <a:rPr sz="1300" b="1" i="0">
                <a:solidFill>
                  <a:srgbClr val="8B2E2E"/>
                </a:solidFill>
                <a:latin typeface="Calibri"/>
              </a:rPr>
              <a:t>▸  </a:t>
            </a:r>
            <a:r>
              <a:rPr sz="1300" b="0" i="0">
                <a:solidFill>
                  <a:srgbClr val="3B2F1E"/>
                </a:solidFill>
                <a:latin typeface="Calibri"/>
              </a:rPr>
              <a:t>7-day arc tight for relationship-building</a:t>
            </a:r>
          </a:p>
        </p:txBody>
      </p:sp>
      <p:sp>
        <p:nvSpPr>
          <p:cNvPr id="15" name="Rectangle 14"/>
          <p:cNvSpPr/>
          <p:nvPr/>
        </p:nvSpPr>
        <p:spPr>
          <a:xfrm>
            <a:off x="6233007" y="3840480"/>
            <a:ext cx="5318607" cy="2331720"/>
          </a:xfrm>
          <a:prstGeom prst="rect">
            <a:avLst/>
          </a:prstGeom>
          <a:solidFill>
            <a:srgbClr val="FAF4E5"/>
          </a:solidFill>
          <a:ln w="254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3977640"/>
            <a:ext cx="4861407" cy="365760"/>
          </a:xfrm>
          <a:prstGeom prst="rect">
            <a:avLst/>
          </a:prstGeom>
          <a:noFill/>
        </p:spPr>
        <p:txBody>
          <a:bodyPr wrap="square" lIns="45720" rIns="45720" tIns="18288" bIns="18288" anchor="t">
            <a:spAutoFit/>
          </a:bodyPr>
          <a:lstStyle/>
          <a:p>
            <a:pPr algn="l">
              <a:lnSpc>
                <a:spcPct val="115000"/>
              </a:lnSpc>
            </a:pPr>
            <a:r>
              <a:rPr sz="1400" b="1" i="0">
                <a:solidFill>
                  <a:srgbClr val="C9A24A"/>
                </a:solidFill>
                <a:latin typeface="Garamond"/>
              </a:rPr>
              <a:t>VALIDATION  ·  small A/B</a:t>
            </a:r>
          </a:p>
        </p:txBody>
      </p:sp>
      <p:sp>
        <p:nvSpPr>
          <p:cNvPr id="17" name="TextBox 16"/>
          <p:cNvSpPr txBox="1"/>
          <p:nvPr/>
        </p:nvSpPr>
        <p:spPr>
          <a:xfrm>
            <a:off x="6598767" y="4389120"/>
            <a:ext cx="4678527" cy="1691640"/>
          </a:xfrm>
          <a:prstGeom prst="rect">
            <a:avLst/>
          </a:prstGeom>
          <a:noFill/>
        </p:spPr>
        <p:txBody>
          <a:bodyPr wrap="square" lIns="45720" rIns="45720" tIns="18288" bIns="18288" anchor="t">
            <a:spAutoFit/>
          </a:bodyPr>
          <a:lstStyle/>
          <a:p>
            <a:pPr algn="l">
              <a:lnSpc>
                <a:spcPct val="150000"/>
              </a:lnSpc>
            </a:pPr>
            <a:r>
              <a:rPr sz="1300" b="1" i="0">
                <a:solidFill>
                  <a:srgbClr val="C9A24A"/>
                </a:solidFill>
                <a:latin typeface="Calibri"/>
              </a:rPr>
              <a:t>▸  </a:t>
            </a:r>
            <a:r>
              <a:rPr sz="1300" b="0" i="0">
                <a:solidFill>
                  <a:srgbClr val="3B2F1E"/>
                </a:solidFill>
                <a:latin typeface="Calibri"/>
              </a:rPr>
              <a:t>Random vs. structured-prompt customers</a:t>
            </a:r>
          </a:p>
          <a:p>
            <a:pPr algn="l">
              <a:lnSpc>
                <a:spcPct val="150000"/>
              </a:lnSpc>
            </a:pPr>
            <a:r>
              <a:rPr sz="1300" b="1" i="0">
                <a:solidFill>
                  <a:srgbClr val="C9A24A"/>
                </a:solidFill>
                <a:latin typeface="Calibri"/>
              </a:rPr>
              <a:t>▸  </a:t>
            </a:r>
            <a:r>
              <a:rPr sz="1300" b="0" i="0">
                <a:solidFill>
                  <a:srgbClr val="3B2F1E"/>
                </a:solidFill>
                <a:latin typeface="Calibri"/>
              </a:rPr>
              <a:t>Structured → 3× more constraint-aware wand submissions</a:t>
            </a:r>
          </a:p>
          <a:p>
            <a:pPr algn="l">
              <a:lnSpc>
                <a:spcPct val="150000"/>
              </a:lnSpc>
            </a:pPr>
            <a:r>
              <a:rPr sz="1300" b="1" i="0">
                <a:solidFill>
                  <a:srgbClr val="C9A24A"/>
                </a:solidFill>
                <a:latin typeface="Calibri"/>
              </a:rPr>
              <a:t>▸  </a:t>
            </a:r>
            <a:r>
              <a:rPr sz="1300" b="0" i="0">
                <a:solidFill>
                  <a:srgbClr val="3B2F1E"/>
                </a:solidFill>
                <a:latin typeface="Calibri"/>
              </a:rPr>
              <a:t>Sample size small; signal directional only</a:t>
            </a:r>
          </a:p>
        </p:txBody>
      </p:sp>
      <p:sp>
        <p:nvSpPr>
          <p:cNvPr id="18" name="TextBox 17"/>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19" name="TextBox 18"/>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Conclusion &amp; Future Work</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13</a:t>
            </a:r>
          </a:p>
        </p:txBody>
      </p:sp>
      <p:sp>
        <p:nvSpPr>
          <p:cNvPr id="6" name="Rectangle 5"/>
          <p:cNvSpPr/>
          <p:nvPr/>
        </p:nvSpPr>
        <p:spPr>
          <a:xfrm>
            <a:off x="640080" y="1325880"/>
            <a:ext cx="3515258" cy="4114800"/>
          </a:xfrm>
          <a:prstGeom prst="rect">
            <a:avLst/>
          </a:prstGeom>
          <a:solidFill>
            <a:srgbClr val="FAF4E5"/>
          </a:solidFill>
          <a:ln w="25400">
            <a:solidFill>
              <a:srgbClr val="2E6E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3515258" cy="502920"/>
          </a:xfrm>
          <a:prstGeom prst="rect">
            <a:avLst/>
          </a:prstGeom>
          <a:noFill/>
        </p:spPr>
        <p:txBody>
          <a:bodyPr wrap="square" lIns="45720" rIns="45720" tIns="18288" bIns="18288" anchor="t">
            <a:spAutoFit/>
          </a:bodyPr>
          <a:lstStyle/>
          <a:p>
            <a:pPr algn="ctr">
              <a:lnSpc>
                <a:spcPct val="115000"/>
              </a:lnSpc>
            </a:pPr>
            <a:r>
              <a:rPr sz="1800" b="1" i="0">
                <a:solidFill>
                  <a:srgbClr val="2E6E4A"/>
                </a:solidFill>
                <a:latin typeface="Garamond"/>
              </a:rPr>
              <a:t>✓ DONE</a:t>
            </a:r>
          </a:p>
        </p:txBody>
      </p:sp>
      <p:sp>
        <p:nvSpPr>
          <p:cNvPr id="8" name="TextBox 7"/>
          <p:cNvSpPr txBox="1"/>
          <p:nvPr/>
        </p:nvSpPr>
        <p:spPr>
          <a:xfrm>
            <a:off x="914400" y="2194560"/>
            <a:ext cx="2966618" cy="3108960"/>
          </a:xfrm>
          <a:prstGeom prst="rect">
            <a:avLst/>
          </a:prstGeom>
          <a:noFill/>
        </p:spPr>
        <p:txBody>
          <a:bodyPr wrap="square" lIns="45720" rIns="45720" tIns="18288" bIns="18288" anchor="t">
            <a:spAutoFit/>
          </a:bodyPr>
          <a:lstStyle/>
          <a:p>
            <a:pPr algn="l">
              <a:lnSpc>
                <a:spcPct val="155000"/>
              </a:lnSpc>
            </a:pPr>
            <a:r>
              <a:rPr sz="1300" b="1" i="0">
                <a:solidFill>
                  <a:srgbClr val="2E6E4A"/>
                </a:solidFill>
                <a:latin typeface="Calibri"/>
              </a:rPr>
              <a:t>•  </a:t>
            </a:r>
            <a:r>
              <a:rPr sz="1300" b="0" i="0">
                <a:solidFill>
                  <a:srgbClr val="3B2F1E"/>
                </a:solidFill>
                <a:latin typeface="Calibri"/>
              </a:rPr>
              <a:t>7-day arc + 4 endings</a:t>
            </a:r>
          </a:p>
          <a:p>
            <a:pPr algn="l">
              <a:lnSpc>
                <a:spcPct val="155000"/>
              </a:lnSpc>
            </a:pPr>
            <a:r>
              <a:rPr sz="1300" b="1" i="0">
                <a:solidFill>
                  <a:srgbClr val="2E6E4A"/>
                </a:solidFill>
                <a:latin typeface="Calibri"/>
              </a:rPr>
              <a:t>•  </a:t>
            </a:r>
            <a:r>
              <a:rPr sz="1300" b="0" i="0">
                <a:solidFill>
                  <a:srgbClr val="3B2F1E"/>
                </a:solidFill>
                <a:latin typeface="Calibri"/>
              </a:rPr>
              <a:t>Memo deduction gate</a:t>
            </a:r>
          </a:p>
          <a:p>
            <a:pPr algn="l">
              <a:lnSpc>
                <a:spcPct val="155000"/>
              </a:lnSpc>
            </a:pPr>
            <a:r>
              <a:rPr sz="1300" b="1" i="0">
                <a:solidFill>
                  <a:srgbClr val="2E6E4A"/>
                </a:solidFill>
                <a:latin typeface="Calibri"/>
              </a:rPr>
              <a:t>•  </a:t>
            </a:r>
            <a:r>
              <a:rPr sz="1300" b="0" i="0">
                <a:solidFill>
                  <a:srgbClr val="3B2F1E"/>
                </a:solidFill>
                <a:latin typeface="Calibri"/>
              </a:rPr>
              <a:t>3-gate minigame (Tap/Hold/Accent)</a:t>
            </a:r>
          </a:p>
          <a:p>
            <a:pPr algn="l">
              <a:lnSpc>
                <a:spcPct val="155000"/>
              </a:lnSpc>
            </a:pPr>
            <a:r>
              <a:rPr sz="1300" b="1" i="0">
                <a:solidFill>
                  <a:srgbClr val="2E6E4A"/>
                </a:solidFill>
                <a:latin typeface="Calibri"/>
              </a:rPr>
              <a:t>•  </a:t>
            </a:r>
            <a:r>
              <a:rPr sz="1300" b="0" i="0">
                <a:solidFill>
                  <a:srgbClr val="3B2F1E"/>
                </a:solidFill>
                <a:latin typeface="Calibri"/>
              </a:rPr>
              <a:t>Dual-AI pipeline (GPT-4o + ComfyUI)</a:t>
            </a:r>
          </a:p>
          <a:p>
            <a:pPr algn="l">
              <a:lnSpc>
                <a:spcPct val="155000"/>
              </a:lnSpc>
            </a:pPr>
            <a:r>
              <a:rPr sz="1300" b="1" i="0">
                <a:solidFill>
                  <a:srgbClr val="2E6E4A"/>
                </a:solidFill>
                <a:latin typeface="Calibri"/>
              </a:rPr>
              <a:t>•  </a:t>
            </a:r>
            <a:r>
              <a:rPr sz="1300" b="0" i="0">
                <a:solidFill>
                  <a:srgbClr val="3B2F1E"/>
                </a:solidFill>
                <a:latin typeface="Calibri"/>
              </a:rPr>
              <a:t>Parallel-execution latency masking</a:t>
            </a:r>
          </a:p>
          <a:p>
            <a:pPr algn="l">
              <a:lnSpc>
                <a:spcPct val="155000"/>
              </a:lnSpc>
            </a:pPr>
            <a:r>
              <a:rPr sz="1300" b="1" i="0">
                <a:solidFill>
                  <a:srgbClr val="2E6E4A"/>
                </a:solidFill>
                <a:latin typeface="Calibri"/>
              </a:rPr>
              <a:t>•  </a:t>
            </a:r>
            <a:r>
              <a:rPr sz="1300" b="0" i="0">
                <a:solidFill>
                  <a:srgbClr val="3B2F1E"/>
                </a:solidFill>
                <a:latin typeface="Calibri"/>
              </a:rPr>
              <a:t>UI Toolkit migration (6/8 scenes)</a:t>
            </a:r>
          </a:p>
        </p:txBody>
      </p:sp>
      <p:sp>
        <p:nvSpPr>
          <p:cNvPr id="9" name="Rectangle 8"/>
          <p:cNvSpPr/>
          <p:nvPr/>
        </p:nvSpPr>
        <p:spPr>
          <a:xfrm>
            <a:off x="4338218" y="1325880"/>
            <a:ext cx="3515258" cy="4114800"/>
          </a:xfrm>
          <a:prstGeom prst="rect">
            <a:avLst/>
          </a:prstGeom>
          <a:solidFill>
            <a:srgbClr val="FAF4E5"/>
          </a:solidFill>
          <a:ln w="2540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38218" y="1508760"/>
            <a:ext cx="3515258" cy="502920"/>
          </a:xfrm>
          <a:prstGeom prst="rect">
            <a:avLst/>
          </a:prstGeom>
          <a:noFill/>
        </p:spPr>
        <p:txBody>
          <a:bodyPr wrap="square" lIns="45720" rIns="45720" tIns="18288" bIns="18288" anchor="t">
            <a:spAutoFit/>
          </a:bodyPr>
          <a:lstStyle/>
          <a:p>
            <a:pPr algn="ctr">
              <a:lnSpc>
                <a:spcPct val="115000"/>
              </a:lnSpc>
            </a:pPr>
            <a:r>
              <a:rPr sz="1800" b="1" i="0">
                <a:solidFill>
                  <a:srgbClr val="C9A24A"/>
                </a:solidFill>
                <a:latin typeface="Garamond"/>
              </a:rPr>
              <a:t>✦ NEXT 6 MONTHS</a:t>
            </a:r>
          </a:p>
        </p:txBody>
      </p:sp>
      <p:sp>
        <p:nvSpPr>
          <p:cNvPr id="11" name="TextBox 10"/>
          <p:cNvSpPr txBox="1"/>
          <p:nvPr/>
        </p:nvSpPr>
        <p:spPr>
          <a:xfrm>
            <a:off x="4612538" y="2194560"/>
            <a:ext cx="2966618" cy="3108960"/>
          </a:xfrm>
          <a:prstGeom prst="rect">
            <a:avLst/>
          </a:prstGeom>
          <a:noFill/>
        </p:spPr>
        <p:txBody>
          <a:bodyPr wrap="square" lIns="45720" rIns="45720" tIns="18288" bIns="18288" anchor="t">
            <a:spAutoFit/>
          </a:bodyPr>
          <a:lstStyle/>
          <a:p>
            <a:pPr algn="l">
              <a:lnSpc>
                <a:spcPct val="155000"/>
              </a:lnSpc>
            </a:pPr>
            <a:r>
              <a:rPr sz="1300" b="1" i="0">
                <a:solidFill>
                  <a:srgbClr val="C9A24A"/>
                </a:solidFill>
                <a:latin typeface="Calibri"/>
              </a:rPr>
              <a:t>•  </a:t>
            </a:r>
            <a:r>
              <a:rPr sz="1300" b="0" i="0">
                <a:solidFill>
                  <a:srgbClr val="3B2F1E"/>
                </a:solidFill>
                <a:latin typeface="Calibri"/>
              </a:rPr>
              <a:t>2 customers/day</a:t>
            </a:r>
          </a:p>
          <a:p>
            <a:pPr algn="l">
              <a:lnSpc>
                <a:spcPct val="155000"/>
              </a:lnSpc>
            </a:pPr>
            <a:r>
              <a:rPr sz="1300" b="1" i="0">
                <a:solidFill>
                  <a:srgbClr val="C9A24A"/>
                </a:solidFill>
                <a:latin typeface="Calibri"/>
              </a:rPr>
              <a:t>•  </a:t>
            </a:r>
            <a:r>
              <a:rPr sz="1300" b="0" i="0">
                <a:solidFill>
                  <a:srgbClr val="3B2F1E"/>
                </a:solidFill>
                <a:latin typeface="Calibri"/>
              </a:rPr>
              <a:t>Commission system (1.75× orders)</a:t>
            </a:r>
          </a:p>
          <a:p>
            <a:pPr algn="l">
              <a:lnSpc>
                <a:spcPct val="155000"/>
              </a:lnSpc>
            </a:pPr>
            <a:r>
              <a:rPr sz="1300" b="1" i="0">
                <a:solidFill>
                  <a:srgbClr val="C9A24A"/>
                </a:solidFill>
                <a:latin typeface="Calibri"/>
              </a:rPr>
              <a:t>•  </a:t>
            </a:r>
            <a:r>
              <a:rPr sz="1300" b="0" i="0">
                <a:solidFill>
                  <a:srgbClr val="3B2F1E"/>
                </a:solidFill>
                <a:latin typeface="Calibri"/>
              </a:rPr>
              <a:t>Reputation-tier customer biasing</a:t>
            </a:r>
          </a:p>
          <a:p>
            <a:pPr algn="l">
              <a:lnSpc>
                <a:spcPct val="155000"/>
              </a:lnSpc>
            </a:pPr>
            <a:r>
              <a:rPr sz="1300" b="1" i="0">
                <a:solidFill>
                  <a:srgbClr val="C9A24A"/>
                </a:solidFill>
                <a:latin typeface="Calibri"/>
              </a:rPr>
              <a:t>•  </a:t>
            </a:r>
            <a:r>
              <a:rPr sz="1300" b="0" i="0">
                <a:solidFill>
                  <a:srgbClr val="3B2F1E"/>
                </a:solidFill>
                <a:latin typeface="Calibri"/>
              </a:rPr>
              <a:t>Deterministic scoring rubric</a:t>
            </a:r>
          </a:p>
          <a:p>
            <a:pPr algn="l">
              <a:lnSpc>
                <a:spcPct val="155000"/>
              </a:lnSpc>
            </a:pPr>
            <a:r>
              <a:rPr sz="1300" b="1" i="0">
                <a:solidFill>
                  <a:srgbClr val="C9A24A"/>
                </a:solidFill>
                <a:latin typeface="Calibri"/>
              </a:rPr>
              <a:t>•  </a:t>
            </a:r>
            <a:r>
              <a:rPr sz="1300" b="0" i="0">
                <a:solidFill>
                  <a:srgbClr val="3B2F1E"/>
                </a:solidFill>
                <a:latin typeface="Calibri"/>
              </a:rPr>
              <a:t>TTS voice-acted letters</a:t>
            </a:r>
          </a:p>
        </p:txBody>
      </p:sp>
      <p:sp>
        <p:nvSpPr>
          <p:cNvPr id="12" name="Rectangle 11"/>
          <p:cNvSpPr/>
          <p:nvPr/>
        </p:nvSpPr>
        <p:spPr>
          <a:xfrm>
            <a:off x="8036356" y="1325880"/>
            <a:ext cx="3515258" cy="4114800"/>
          </a:xfrm>
          <a:prstGeom prst="rect">
            <a:avLst/>
          </a:prstGeom>
          <a:solidFill>
            <a:srgbClr val="FAF4E5"/>
          </a:solidFill>
          <a:ln w="25400">
            <a:solidFill>
              <a:srgbClr val="2E4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6356" y="1508760"/>
            <a:ext cx="3515258" cy="502920"/>
          </a:xfrm>
          <a:prstGeom prst="rect">
            <a:avLst/>
          </a:prstGeom>
          <a:noFill/>
        </p:spPr>
        <p:txBody>
          <a:bodyPr wrap="square" lIns="45720" rIns="45720" tIns="18288" bIns="18288" anchor="t">
            <a:spAutoFit/>
          </a:bodyPr>
          <a:lstStyle/>
          <a:p>
            <a:pPr algn="ctr">
              <a:lnSpc>
                <a:spcPct val="115000"/>
              </a:lnSpc>
            </a:pPr>
            <a:r>
              <a:rPr sz="1800" b="1" i="0">
                <a:solidFill>
                  <a:srgbClr val="2E4A6E"/>
                </a:solidFill>
                <a:latin typeface="Garamond"/>
              </a:rPr>
              <a:t>❖ LONG TERM</a:t>
            </a:r>
          </a:p>
        </p:txBody>
      </p:sp>
      <p:sp>
        <p:nvSpPr>
          <p:cNvPr id="14" name="TextBox 13"/>
          <p:cNvSpPr txBox="1"/>
          <p:nvPr/>
        </p:nvSpPr>
        <p:spPr>
          <a:xfrm>
            <a:off x="8310676" y="2194560"/>
            <a:ext cx="2966618" cy="3108960"/>
          </a:xfrm>
          <a:prstGeom prst="rect">
            <a:avLst/>
          </a:prstGeom>
          <a:noFill/>
        </p:spPr>
        <p:txBody>
          <a:bodyPr wrap="square" lIns="45720" rIns="45720" tIns="18288" bIns="18288" anchor="t">
            <a:spAutoFit/>
          </a:bodyPr>
          <a:lstStyle/>
          <a:p>
            <a:pPr algn="l">
              <a:lnSpc>
                <a:spcPct val="155000"/>
              </a:lnSpc>
            </a:pPr>
            <a:r>
              <a:rPr sz="1300" b="1" i="0">
                <a:solidFill>
                  <a:srgbClr val="2E4A6E"/>
                </a:solidFill>
                <a:latin typeface="Calibri"/>
              </a:rPr>
              <a:t>•  </a:t>
            </a:r>
            <a:r>
              <a:rPr sz="1300" b="0" i="0">
                <a:solidFill>
                  <a:srgbClr val="3B2F1E"/>
                </a:solidFill>
                <a:latin typeface="Calibri"/>
              </a:rPr>
              <a:t>Procedural rune shapes</a:t>
            </a:r>
          </a:p>
          <a:p>
            <a:pPr algn="l">
              <a:lnSpc>
                <a:spcPct val="155000"/>
              </a:lnSpc>
            </a:pPr>
            <a:r>
              <a:rPr sz="1300" b="1" i="0">
                <a:solidFill>
                  <a:srgbClr val="2E4A6E"/>
                </a:solidFill>
                <a:latin typeface="Calibri"/>
              </a:rPr>
              <a:t>•  </a:t>
            </a:r>
            <a:r>
              <a:rPr sz="1300" b="0" i="0">
                <a:solidFill>
                  <a:srgbClr val="3B2F1E"/>
                </a:solidFill>
                <a:latin typeface="Calibri"/>
              </a:rPr>
              <a:t>Multi-day customer threads</a:t>
            </a:r>
          </a:p>
          <a:p>
            <a:pPr algn="l">
              <a:lnSpc>
                <a:spcPct val="155000"/>
              </a:lnSpc>
            </a:pPr>
            <a:r>
              <a:rPr sz="1300" b="1" i="0">
                <a:solidFill>
                  <a:srgbClr val="2E4A6E"/>
                </a:solidFill>
                <a:latin typeface="Calibri"/>
              </a:rPr>
              <a:t>•  </a:t>
            </a:r>
            <a:r>
              <a:rPr sz="1300" b="0" i="0">
                <a:solidFill>
                  <a:srgbClr val="3B2F1E"/>
                </a:solidFill>
                <a:latin typeface="Calibri"/>
              </a:rPr>
              <a:t>Modder API</a:t>
            </a:r>
          </a:p>
          <a:p>
            <a:pPr algn="l">
              <a:lnSpc>
                <a:spcPct val="155000"/>
              </a:lnSpc>
            </a:pPr>
            <a:r>
              <a:rPr sz="1300" b="1" i="0">
                <a:solidFill>
                  <a:srgbClr val="2E4A6E"/>
                </a:solidFill>
                <a:latin typeface="Calibri"/>
              </a:rPr>
              <a:t>•  </a:t>
            </a:r>
            <a:r>
              <a:rPr sz="1300" b="0" i="0">
                <a:solidFill>
                  <a:srgbClr val="3B2F1E"/>
                </a:solidFill>
                <a:latin typeface="Calibri"/>
              </a:rPr>
              <a:t>Steam distribution (bundled inference)</a:t>
            </a:r>
          </a:p>
        </p:txBody>
      </p:sp>
      <p:sp>
        <p:nvSpPr>
          <p:cNvPr id="15" name="TextBox 14"/>
          <p:cNvSpPr txBox="1"/>
          <p:nvPr/>
        </p:nvSpPr>
        <p:spPr>
          <a:xfrm>
            <a:off x="640080" y="5989320"/>
            <a:ext cx="10911535" cy="365760"/>
          </a:xfrm>
          <a:prstGeom prst="rect">
            <a:avLst/>
          </a:prstGeom>
          <a:noFill/>
        </p:spPr>
        <p:txBody>
          <a:bodyPr wrap="square" lIns="45720" rIns="45720" tIns="18288" bIns="18288" anchor="t">
            <a:spAutoFit/>
          </a:bodyPr>
          <a:lstStyle/>
          <a:p>
            <a:pPr algn="ctr">
              <a:lnSpc>
                <a:spcPct val="115000"/>
              </a:lnSpc>
            </a:pPr>
            <a:r>
              <a:rPr sz="1500" b="0" i="1">
                <a:solidFill>
                  <a:srgbClr val="C9A24A"/>
                </a:solidFill>
                <a:latin typeface="Garamond"/>
              </a:rPr>
              <a:t>“Generative AI as both author and judge — closing the narrative loop.”</a:t>
            </a:r>
          </a:p>
        </p:txBody>
      </p:sp>
      <p:sp>
        <p:nvSpPr>
          <p:cNvPr id="16" name="TextBox 15"/>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17" name="TextBox 16"/>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20040"/>
            <a:ext cx="11277295" cy="45720"/>
          </a:xfrm>
          <a:prstGeom prst="rect">
            <a:avLst/>
          </a:prstGeom>
          <a:solidFill>
            <a:srgbClr val="C9A2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362895" cy="502920"/>
          </a:xfrm>
          <a:prstGeom prst="rect">
            <a:avLst/>
          </a:prstGeom>
          <a:noFill/>
        </p:spPr>
        <p:txBody>
          <a:bodyPr wrap="square" lIns="45720" rIns="45720" tIns="18288" bIns="18288" anchor="t">
            <a:spAutoFit/>
          </a:bodyPr>
          <a:lstStyle/>
          <a:p>
            <a:pPr algn="l">
              <a:lnSpc>
                <a:spcPct val="115000"/>
              </a:lnSpc>
            </a:pPr>
            <a:r>
              <a:rPr sz="2800" b="1" i="0">
                <a:solidFill>
                  <a:srgbClr val="3B2F1E"/>
                </a:solidFill>
                <a:latin typeface="Garamond"/>
              </a:rPr>
              <a:t>Appendices &amp; References</a:t>
            </a:r>
          </a:p>
        </p:txBody>
      </p:sp>
      <p:sp>
        <p:nvSpPr>
          <p:cNvPr id="5" name="TextBox 4"/>
          <p:cNvSpPr txBox="1"/>
          <p:nvPr/>
        </p:nvSpPr>
        <p:spPr>
          <a:xfrm>
            <a:off x="10820095" y="457200"/>
            <a:ext cx="914400" cy="502920"/>
          </a:xfrm>
          <a:prstGeom prst="rect">
            <a:avLst/>
          </a:prstGeom>
          <a:noFill/>
        </p:spPr>
        <p:txBody>
          <a:bodyPr wrap="square" lIns="45720" rIns="45720" tIns="18288" bIns="18288" anchor="t">
            <a:spAutoFit/>
          </a:bodyPr>
          <a:lstStyle/>
          <a:p>
            <a:pPr algn="r">
              <a:lnSpc>
                <a:spcPct val="115000"/>
              </a:lnSpc>
            </a:pPr>
            <a:r>
              <a:rPr sz="1100" b="0" i="0">
                <a:solidFill>
                  <a:srgbClr val="6B5536"/>
                </a:solidFill>
                <a:latin typeface="Calibri"/>
              </a:rPr>
              <a:t>Slide 14</a:t>
            </a:r>
          </a:p>
        </p:txBody>
      </p:sp>
      <p:sp>
        <p:nvSpPr>
          <p:cNvPr id="6" name="Rectangle 5"/>
          <p:cNvSpPr/>
          <p:nvPr/>
        </p:nvSpPr>
        <p:spPr>
          <a:xfrm>
            <a:off x="640080" y="1325880"/>
            <a:ext cx="3515258" cy="338328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3515258" cy="457200"/>
          </a:xfrm>
          <a:prstGeom prst="rect">
            <a:avLst/>
          </a:prstGeom>
          <a:noFill/>
        </p:spPr>
        <p:txBody>
          <a:bodyPr wrap="square" lIns="45720" rIns="45720" tIns="18288" bIns="18288" anchor="t">
            <a:spAutoFit/>
          </a:bodyPr>
          <a:lstStyle/>
          <a:p>
            <a:pPr algn="ctr">
              <a:lnSpc>
                <a:spcPct val="115000"/>
              </a:lnSpc>
            </a:pPr>
            <a:r>
              <a:rPr sz="1500" b="1" i="0">
                <a:solidFill>
                  <a:srgbClr val="3B2F1E"/>
                </a:solidFill>
                <a:latin typeface="Garamond"/>
              </a:rPr>
              <a:t>SOFTWARE STACK</a:t>
            </a:r>
          </a:p>
        </p:txBody>
      </p:sp>
      <p:sp>
        <p:nvSpPr>
          <p:cNvPr id="8" name="TextBox 7"/>
          <p:cNvSpPr txBox="1"/>
          <p:nvPr/>
        </p:nvSpPr>
        <p:spPr>
          <a:xfrm>
            <a:off x="868680" y="2011680"/>
            <a:ext cx="3058058" cy="2560320"/>
          </a:xfrm>
          <a:prstGeom prst="rect">
            <a:avLst/>
          </a:prstGeom>
          <a:noFill/>
        </p:spPr>
        <p:txBody>
          <a:bodyPr wrap="square" lIns="45720" rIns="45720" tIns="18288" bIns="18288" anchor="t">
            <a:spAutoFit/>
          </a:bodyPr>
          <a:lstStyle/>
          <a:p>
            <a:pPr algn="l">
              <a:lnSpc>
                <a:spcPct val="150000"/>
              </a:lnSpc>
            </a:pPr>
            <a:r>
              <a:rPr sz="1200" b="1" i="0">
                <a:solidFill>
                  <a:srgbClr val="C9A24A"/>
                </a:solidFill>
                <a:latin typeface="Calibri"/>
              </a:rPr>
              <a:t>•  </a:t>
            </a:r>
            <a:r>
              <a:rPr sz="1200" b="0" i="0">
                <a:solidFill>
                  <a:srgbClr val="3B2F1E"/>
                </a:solidFill>
                <a:latin typeface="Calibri"/>
              </a:rPr>
              <a:t>Unity 6 (6000.0.58f2)</a:t>
            </a:r>
          </a:p>
          <a:p>
            <a:pPr algn="l">
              <a:lnSpc>
                <a:spcPct val="150000"/>
              </a:lnSpc>
            </a:pPr>
            <a:r>
              <a:rPr sz="1200" b="1" i="0">
                <a:solidFill>
                  <a:srgbClr val="C9A24A"/>
                </a:solidFill>
                <a:latin typeface="Calibri"/>
              </a:rPr>
              <a:t>•  </a:t>
            </a:r>
            <a:r>
              <a:rPr sz="1200" b="0" i="0">
                <a:solidFill>
                  <a:srgbClr val="3B2F1E"/>
                </a:solidFill>
                <a:latin typeface="Calibri"/>
              </a:rPr>
              <a:t>Universal Render Pipeline (URP)</a:t>
            </a:r>
          </a:p>
          <a:p>
            <a:pPr algn="l">
              <a:lnSpc>
                <a:spcPct val="150000"/>
              </a:lnSpc>
            </a:pPr>
            <a:r>
              <a:rPr sz="1200" b="1" i="0">
                <a:solidFill>
                  <a:srgbClr val="C9A24A"/>
                </a:solidFill>
                <a:latin typeface="Calibri"/>
              </a:rPr>
              <a:t>•  </a:t>
            </a:r>
            <a:r>
              <a:rPr sz="1200" b="0" i="0">
                <a:solidFill>
                  <a:srgbClr val="3B2F1E"/>
                </a:solidFill>
                <a:latin typeface="Calibri"/>
              </a:rPr>
              <a:t>OpenAI GPT-4o</a:t>
            </a:r>
          </a:p>
          <a:p>
            <a:pPr algn="l">
              <a:lnSpc>
                <a:spcPct val="150000"/>
              </a:lnSpc>
            </a:pPr>
            <a:r>
              <a:rPr sz="1200" b="1" i="0">
                <a:solidFill>
                  <a:srgbClr val="C9A24A"/>
                </a:solidFill>
                <a:latin typeface="Calibri"/>
              </a:rPr>
              <a:t>•  </a:t>
            </a:r>
            <a:r>
              <a:rPr sz="1200" b="0" i="0">
                <a:solidFill>
                  <a:srgbClr val="3B2F1E"/>
                </a:solidFill>
                <a:latin typeface="Calibri"/>
              </a:rPr>
              <a:t>ComfyUI + Nunchaku INT4</a:t>
            </a:r>
          </a:p>
          <a:p>
            <a:pPr algn="l">
              <a:lnSpc>
                <a:spcPct val="150000"/>
              </a:lnSpc>
            </a:pPr>
            <a:r>
              <a:rPr sz="1200" b="1" i="0">
                <a:solidFill>
                  <a:srgbClr val="C9A24A"/>
                </a:solidFill>
                <a:latin typeface="Calibri"/>
              </a:rPr>
              <a:t>•  </a:t>
            </a:r>
            <a:r>
              <a:rPr sz="1200" b="0" i="0">
                <a:solidFill>
                  <a:srgbClr val="3B2F1E"/>
                </a:solidFill>
                <a:latin typeface="Calibri"/>
              </a:rPr>
              <a:t>Z-Image Turbo</a:t>
            </a:r>
          </a:p>
          <a:p>
            <a:pPr algn="l">
              <a:lnSpc>
                <a:spcPct val="150000"/>
              </a:lnSpc>
            </a:pPr>
            <a:r>
              <a:rPr sz="1200" b="1" i="0">
                <a:solidFill>
                  <a:srgbClr val="C9A24A"/>
                </a:solidFill>
                <a:latin typeface="Calibri"/>
              </a:rPr>
              <a:t>•  </a:t>
            </a:r>
            <a:r>
              <a:rPr sz="1200" b="0" i="0">
                <a:solidFill>
                  <a:srgbClr val="3B2F1E"/>
                </a:solidFill>
                <a:latin typeface="Calibri"/>
              </a:rPr>
              <a:t>Newtonsoft.Json</a:t>
            </a:r>
          </a:p>
          <a:p>
            <a:pPr algn="l">
              <a:lnSpc>
                <a:spcPct val="150000"/>
              </a:lnSpc>
            </a:pPr>
            <a:r>
              <a:rPr sz="1200" b="1" i="0">
                <a:solidFill>
                  <a:srgbClr val="C9A24A"/>
                </a:solidFill>
                <a:latin typeface="Calibri"/>
              </a:rPr>
              <a:t>•  </a:t>
            </a:r>
            <a:r>
              <a:rPr sz="1200" b="0" i="0">
                <a:solidFill>
                  <a:srgbClr val="3B2F1E"/>
                </a:solidFill>
                <a:latin typeface="Calibri"/>
              </a:rPr>
              <a:t>UI Toolkit · Input System</a:t>
            </a:r>
          </a:p>
        </p:txBody>
      </p:sp>
      <p:sp>
        <p:nvSpPr>
          <p:cNvPr id="9" name="Rectangle 8"/>
          <p:cNvSpPr/>
          <p:nvPr/>
        </p:nvSpPr>
        <p:spPr>
          <a:xfrm>
            <a:off x="4338218" y="1325880"/>
            <a:ext cx="3515258" cy="338328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38218" y="1463040"/>
            <a:ext cx="3515258" cy="457200"/>
          </a:xfrm>
          <a:prstGeom prst="rect">
            <a:avLst/>
          </a:prstGeom>
          <a:noFill/>
        </p:spPr>
        <p:txBody>
          <a:bodyPr wrap="square" lIns="45720" rIns="45720" tIns="18288" bIns="18288" anchor="t">
            <a:spAutoFit/>
          </a:bodyPr>
          <a:lstStyle/>
          <a:p>
            <a:pPr algn="ctr">
              <a:lnSpc>
                <a:spcPct val="115000"/>
              </a:lnSpc>
            </a:pPr>
            <a:r>
              <a:rPr sz="1500" b="1" i="0">
                <a:solidFill>
                  <a:srgbClr val="3B2F1E"/>
                </a:solidFill>
                <a:latin typeface="Garamond"/>
              </a:rPr>
              <a:t>CODE</a:t>
            </a:r>
          </a:p>
        </p:txBody>
      </p:sp>
      <p:sp>
        <p:nvSpPr>
          <p:cNvPr id="11" name="TextBox 10"/>
          <p:cNvSpPr txBox="1"/>
          <p:nvPr/>
        </p:nvSpPr>
        <p:spPr>
          <a:xfrm>
            <a:off x="4566818" y="2011680"/>
            <a:ext cx="3058058" cy="2560320"/>
          </a:xfrm>
          <a:prstGeom prst="rect">
            <a:avLst/>
          </a:prstGeom>
          <a:noFill/>
        </p:spPr>
        <p:txBody>
          <a:bodyPr wrap="square" lIns="45720" rIns="45720" tIns="18288" bIns="18288" anchor="t">
            <a:spAutoFit/>
          </a:bodyPr>
          <a:lstStyle/>
          <a:p>
            <a:pPr algn="l">
              <a:lnSpc>
                <a:spcPct val="150000"/>
              </a:lnSpc>
            </a:pPr>
            <a:r>
              <a:rPr sz="1200" b="1" i="0">
                <a:solidFill>
                  <a:srgbClr val="C9A24A"/>
                </a:solidFill>
                <a:latin typeface="Calibri"/>
              </a:rPr>
              <a:t>•  </a:t>
            </a:r>
            <a:r>
              <a:rPr sz="1200" b="0" i="0">
                <a:solidFill>
                  <a:srgbClr val="3B2F1E"/>
                </a:solidFill>
                <a:latin typeface="Calibri"/>
              </a:rPr>
              <a:t>34 scripts in Assets/Scripts/</a:t>
            </a:r>
          </a:p>
          <a:p>
            <a:pPr algn="l">
              <a:lnSpc>
                <a:spcPct val="150000"/>
              </a:lnSpc>
            </a:pPr>
            <a:r>
              <a:rPr sz="1200" b="1" i="0">
                <a:solidFill>
                  <a:srgbClr val="C9A24A"/>
                </a:solidFill>
                <a:latin typeface="Calibri"/>
              </a:rPr>
              <a:t>•  </a:t>
            </a:r>
            <a:r>
              <a:rPr sz="1200" b="0" i="0">
                <a:solidFill>
                  <a:srgbClr val="3B2F1E"/>
                </a:solidFill>
                <a:latin typeface="Calibri"/>
              </a:rPr>
              <a:t>~8,700 LoC of C#</a:t>
            </a:r>
          </a:p>
          <a:p>
            <a:pPr algn="l">
              <a:lnSpc>
                <a:spcPct val="150000"/>
              </a:lnSpc>
            </a:pPr>
            <a:r>
              <a:rPr sz="1200" b="1" i="0">
                <a:solidFill>
                  <a:srgbClr val="C9A24A"/>
                </a:solidFill>
                <a:latin typeface="Calibri"/>
              </a:rPr>
              <a:t>•  </a:t>
            </a:r>
            <a:r>
              <a:rPr sz="1200" b="0" i="0">
                <a:solidFill>
                  <a:srgbClr val="3B2F1E"/>
                </a:solidFill>
                <a:latin typeface="Calibri"/>
              </a:rPr>
              <a:t>Flat structure (no subdirs)</a:t>
            </a:r>
          </a:p>
          <a:p>
            <a:pPr algn="l">
              <a:lnSpc>
                <a:spcPct val="150000"/>
              </a:lnSpc>
            </a:pPr>
            <a:r>
              <a:rPr sz="1200" b="1" i="0">
                <a:solidFill>
                  <a:srgbClr val="C9A24A"/>
                </a:solidFill>
                <a:latin typeface="Calibri"/>
              </a:rPr>
              <a:t>•  </a:t>
            </a:r>
            <a:r>
              <a:rPr sz="1200" b="0" i="0">
                <a:solidFill>
                  <a:srgbClr val="3B2F1E"/>
                </a:solidFill>
                <a:latin typeface="Calibri"/>
              </a:rPr>
              <a:t>GitHub repository:</a:t>
            </a:r>
          </a:p>
          <a:p>
            <a:pPr algn="l">
              <a:lnSpc>
                <a:spcPct val="150000"/>
              </a:lnSpc>
            </a:pPr>
            <a:r>
              <a:rPr sz="1200" b="1" i="0">
                <a:solidFill>
                  <a:srgbClr val="C9A24A"/>
                </a:solidFill>
                <a:latin typeface="Calibri"/>
              </a:rPr>
              <a:t>•  </a:t>
            </a:r>
            <a:r>
              <a:rPr sz="1200" b="0" i="0">
                <a:solidFill>
                  <a:srgbClr val="3B2F1E"/>
                </a:solidFill>
                <a:latin typeface="Calibri"/>
              </a:rPr>
              <a:t>[QR / link placeholder]</a:t>
            </a:r>
          </a:p>
        </p:txBody>
      </p:sp>
      <p:sp>
        <p:nvSpPr>
          <p:cNvPr id="12" name="Rectangle 11"/>
          <p:cNvSpPr/>
          <p:nvPr/>
        </p:nvSpPr>
        <p:spPr>
          <a:xfrm>
            <a:off x="8036356" y="1325880"/>
            <a:ext cx="3515258" cy="3383280"/>
          </a:xfrm>
          <a:prstGeom prst="rect">
            <a:avLst/>
          </a:prstGeom>
          <a:solidFill>
            <a:srgbClr val="FAF4E5"/>
          </a:solidFill>
          <a:ln w="19050">
            <a:solidFill>
              <a:srgbClr val="C9A2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36356" y="1463040"/>
            <a:ext cx="3515258" cy="457200"/>
          </a:xfrm>
          <a:prstGeom prst="rect">
            <a:avLst/>
          </a:prstGeom>
          <a:noFill/>
        </p:spPr>
        <p:txBody>
          <a:bodyPr wrap="square" lIns="45720" rIns="45720" tIns="18288" bIns="18288" anchor="t">
            <a:spAutoFit/>
          </a:bodyPr>
          <a:lstStyle/>
          <a:p>
            <a:pPr algn="ctr">
              <a:lnSpc>
                <a:spcPct val="115000"/>
              </a:lnSpc>
            </a:pPr>
            <a:r>
              <a:rPr sz="1500" b="1" i="0">
                <a:solidFill>
                  <a:srgbClr val="3B2F1E"/>
                </a:solidFill>
                <a:latin typeface="Garamond"/>
              </a:rPr>
              <a:t>REFERENCES</a:t>
            </a:r>
          </a:p>
        </p:txBody>
      </p:sp>
      <p:sp>
        <p:nvSpPr>
          <p:cNvPr id="14" name="TextBox 13"/>
          <p:cNvSpPr txBox="1"/>
          <p:nvPr/>
        </p:nvSpPr>
        <p:spPr>
          <a:xfrm>
            <a:off x="8264956" y="2011680"/>
            <a:ext cx="3058058" cy="2560320"/>
          </a:xfrm>
          <a:prstGeom prst="rect">
            <a:avLst/>
          </a:prstGeom>
          <a:noFill/>
        </p:spPr>
        <p:txBody>
          <a:bodyPr wrap="square" lIns="45720" rIns="45720" tIns="18288" bIns="18288" anchor="t">
            <a:spAutoFit/>
          </a:bodyPr>
          <a:lstStyle/>
          <a:p>
            <a:pPr algn="l">
              <a:lnSpc>
                <a:spcPct val="150000"/>
              </a:lnSpc>
            </a:pPr>
            <a:r>
              <a:rPr sz="1200" b="1" i="0">
                <a:solidFill>
                  <a:srgbClr val="C9A24A"/>
                </a:solidFill>
                <a:latin typeface="Calibri"/>
              </a:rPr>
              <a:t>•  </a:t>
            </a:r>
            <a:r>
              <a:rPr sz="1200" b="0" i="0">
                <a:solidFill>
                  <a:srgbClr val="3B2F1E"/>
                </a:solidFill>
                <a:latin typeface="Calibri"/>
              </a:rPr>
              <a:t>Hogwarts Legacy (Avalanche / WB, 2023)</a:t>
            </a:r>
          </a:p>
          <a:p>
            <a:pPr algn="l">
              <a:lnSpc>
                <a:spcPct val="150000"/>
              </a:lnSpc>
            </a:pPr>
            <a:r>
              <a:rPr sz="1200" b="1" i="0">
                <a:solidFill>
                  <a:srgbClr val="C9A24A"/>
                </a:solidFill>
                <a:latin typeface="Calibri"/>
              </a:rPr>
              <a:t>•  </a:t>
            </a:r>
            <a:r>
              <a:rPr sz="1200" b="0" i="0">
                <a:solidFill>
                  <a:srgbClr val="3B2F1E"/>
                </a:solidFill>
                <a:latin typeface="Calibri"/>
              </a:rPr>
              <a:t>Papers, Please (Pope, 2013)</a:t>
            </a:r>
          </a:p>
          <a:p>
            <a:pPr algn="l">
              <a:lnSpc>
                <a:spcPct val="150000"/>
              </a:lnSpc>
            </a:pPr>
            <a:r>
              <a:rPr sz="1200" b="1" i="0">
                <a:solidFill>
                  <a:srgbClr val="C9A24A"/>
                </a:solidFill>
                <a:latin typeface="Calibri"/>
              </a:rPr>
              <a:t>•  </a:t>
            </a:r>
            <a:r>
              <a:rPr sz="1200" b="0" i="0">
                <a:solidFill>
                  <a:srgbClr val="3B2F1E"/>
                </a:solidFill>
                <a:latin typeface="Calibri"/>
              </a:rPr>
              <a:t>Disco Elysium (ZA/UM, 2019)</a:t>
            </a:r>
          </a:p>
          <a:p>
            <a:pPr algn="l">
              <a:lnSpc>
                <a:spcPct val="150000"/>
              </a:lnSpc>
            </a:pPr>
            <a:r>
              <a:rPr sz="1200" b="1" i="0">
                <a:solidFill>
                  <a:srgbClr val="C9A24A"/>
                </a:solidFill>
                <a:latin typeface="Calibri"/>
              </a:rPr>
              <a:t>•  </a:t>
            </a:r>
            <a:r>
              <a:rPr sz="1200" b="0" i="0">
                <a:solidFill>
                  <a:srgbClr val="3B2F1E"/>
                </a:solidFill>
                <a:latin typeface="Calibri"/>
              </a:rPr>
              <a:t>Catmull &amp; Rom, A Class of Local Interpolating Splines, 1974</a:t>
            </a:r>
          </a:p>
          <a:p>
            <a:pPr algn="l">
              <a:lnSpc>
                <a:spcPct val="150000"/>
              </a:lnSpc>
            </a:pPr>
            <a:r>
              <a:rPr sz="1200" b="1" i="0">
                <a:solidFill>
                  <a:srgbClr val="C9A24A"/>
                </a:solidFill>
                <a:latin typeface="Calibri"/>
              </a:rPr>
              <a:t>•  </a:t>
            </a:r>
            <a:r>
              <a:rPr sz="1200" b="0" i="0">
                <a:solidFill>
                  <a:srgbClr val="3B2F1E"/>
                </a:solidFill>
                <a:latin typeface="Calibri"/>
              </a:rPr>
              <a:t>OpenAI GPT-4o model card (2024)</a:t>
            </a:r>
          </a:p>
          <a:p>
            <a:pPr algn="l">
              <a:lnSpc>
                <a:spcPct val="150000"/>
              </a:lnSpc>
            </a:pPr>
            <a:r>
              <a:rPr sz="1200" b="1" i="0">
                <a:solidFill>
                  <a:srgbClr val="C9A24A"/>
                </a:solidFill>
                <a:latin typeface="Calibri"/>
              </a:rPr>
              <a:t>•  </a:t>
            </a:r>
            <a:r>
              <a:rPr sz="1200" b="0" i="0">
                <a:solidFill>
                  <a:srgbClr val="3B2F1E"/>
                </a:solidFill>
                <a:latin typeface="Calibri"/>
              </a:rPr>
              <a:t>Nunchaku quantization — INT4 diffusion</a:t>
            </a:r>
          </a:p>
        </p:txBody>
      </p:sp>
      <p:sp>
        <p:nvSpPr>
          <p:cNvPr id="15" name="Rectangle 14"/>
          <p:cNvSpPr/>
          <p:nvPr/>
        </p:nvSpPr>
        <p:spPr>
          <a:xfrm>
            <a:off x="640080" y="4937760"/>
            <a:ext cx="10911535" cy="1005840"/>
          </a:xfrm>
          <a:prstGeom prst="rect">
            <a:avLst/>
          </a:prstGeom>
          <a:solidFill>
            <a:srgbClr val="3B2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029200"/>
            <a:ext cx="10911535" cy="502920"/>
          </a:xfrm>
          <a:prstGeom prst="rect">
            <a:avLst/>
          </a:prstGeom>
          <a:noFill/>
        </p:spPr>
        <p:txBody>
          <a:bodyPr wrap="square" lIns="45720" rIns="45720" tIns="18288" bIns="18288" anchor="t">
            <a:spAutoFit/>
          </a:bodyPr>
          <a:lstStyle/>
          <a:p>
            <a:pPr algn="ctr">
              <a:lnSpc>
                <a:spcPct val="115000"/>
              </a:lnSpc>
            </a:pPr>
            <a:r>
              <a:rPr sz="3600" b="1" i="0">
                <a:solidFill>
                  <a:srgbClr val="C9A24A"/>
                </a:solidFill>
                <a:latin typeface="Garamond"/>
              </a:rPr>
              <a:t>Thank you.</a:t>
            </a:r>
          </a:p>
        </p:txBody>
      </p:sp>
      <p:sp>
        <p:nvSpPr>
          <p:cNvPr id="17" name="TextBox 16"/>
          <p:cNvSpPr txBox="1"/>
          <p:nvPr/>
        </p:nvSpPr>
        <p:spPr>
          <a:xfrm>
            <a:off x="640080" y="5532120"/>
            <a:ext cx="10911535" cy="365760"/>
          </a:xfrm>
          <a:prstGeom prst="rect">
            <a:avLst/>
          </a:prstGeom>
          <a:noFill/>
        </p:spPr>
        <p:txBody>
          <a:bodyPr wrap="square" lIns="45720" rIns="45720" tIns="18288" bIns="18288" anchor="t">
            <a:spAutoFit/>
          </a:bodyPr>
          <a:lstStyle/>
          <a:p>
            <a:pPr algn="ctr">
              <a:lnSpc>
                <a:spcPct val="115000"/>
              </a:lnSpc>
            </a:pPr>
            <a:r>
              <a:rPr sz="1800" b="0" i="1">
                <a:solidFill>
                  <a:srgbClr val="E6C97B"/>
                </a:solidFill>
                <a:latin typeface="Garamond"/>
              </a:rPr>
              <a:t>Questions?</a:t>
            </a:r>
          </a:p>
        </p:txBody>
      </p:sp>
      <p:sp>
        <p:nvSpPr>
          <p:cNvPr id="18" name="TextBox 17"/>
          <p:cNvSpPr txBox="1"/>
          <p:nvPr/>
        </p:nvSpPr>
        <p:spPr>
          <a:xfrm>
            <a:off x="457200" y="6446520"/>
            <a:ext cx="5486400" cy="274320"/>
          </a:xfrm>
          <a:prstGeom prst="rect">
            <a:avLst/>
          </a:prstGeom>
          <a:noFill/>
        </p:spPr>
        <p:txBody>
          <a:bodyPr wrap="square" lIns="45720" rIns="45720" tIns="18288" bIns="18288" anchor="t">
            <a:spAutoFit/>
          </a:bodyPr>
          <a:lstStyle/>
          <a:p>
            <a:pPr algn="l">
              <a:lnSpc>
                <a:spcPct val="115000"/>
              </a:lnSpc>
            </a:pPr>
            <a:r>
              <a:rPr sz="1000" b="0" i="0">
                <a:solidFill>
                  <a:srgbClr val="6B5536"/>
                </a:solidFill>
                <a:latin typeface="Calibri"/>
              </a:rPr>
              <a:t>The Wand Atelier — FYP Presentation</a:t>
            </a:r>
          </a:p>
        </p:txBody>
      </p:sp>
      <p:sp>
        <p:nvSpPr>
          <p:cNvPr id="19" name="TextBox 18"/>
          <p:cNvSpPr txBox="1"/>
          <p:nvPr/>
        </p:nvSpPr>
        <p:spPr>
          <a:xfrm>
            <a:off x="10362895" y="6446520"/>
            <a:ext cx="1371600" cy="274320"/>
          </a:xfrm>
          <a:prstGeom prst="rect">
            <a:avLst/>
          </a:prstGeom>
          <a:noFill/>
        </p:spPr>
        <p:txBody>
          <a:bodyPr wrap="square" lIns="45720" rIns="45720" tIns="18288" bIns="18288" anchor="t">
            <a:spAutoFit/>
          </a:bodyPr>
          <a:lstStyle/>
          <a:p>
            <a:pPr algn="r">
              <a:lnSpc>
                <a:spcPct val="115000"/>
              </a:lnSpc>
            </a:pPr>
            <a:r>
              <a:rPr sz="1000" b="0" i="0">
                <a:solidFill>
                  <a:srgbClr val="6B5536"/>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